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8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DB09ED-5955-4782-AADE-C6FB2973B0A5}" v="4" dt="2026-01-09T11:54:40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99" autoAdjust="0"/>
  </p:normalViewPr>
  <p:slideViewPr>
    <p:cSldViewPr snapToGrid="0" snapToObjects="1">
      <p:cViewPr varScale="1">
        <p:scale>
          <a:sx n="92" d="100"/>
          <a:sy n="92" d="100"/>
        </p:scale>
        <p:origin x="11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Corrêa da Silva Júnior" userId="84ee971c-294e-42c0-bfc6-58865918bc17" providerId="ADAL" clId="{A4C3D5E9-97C4-4FD1-B473-D34C55E969BD}"/>
    <pc:docChg chg="undo custSel addSld delSld modSld sldOrd">
      <pc:chgData name="Fernando Corrêa da Silva Júnior" userId="84ee971c-294e-42c0-bfc6-58865918bc17" providerId="ADAL" clId="{A4C3D5E9-97C4-4FD1-B473-D34C55E969BD}" dt="2026-01-09T11:54:40.985" v="438"/>
      <pc:docMkLst>
        <pc:docMk/>
      </pc:docMkLst>
      <pc:sldChg chg="modSp mod">
        <pc:chgData name="Fernando Corrêa da Silva Júnior" userId="84ee971c-294e-42c0-bfc6-58865918bc17" providerId="ADAL" clId="{A4C3D5E9-97C4-4FD1-B473-D34C55E969BD}" dt="2026-01-09T11:54:40.985" v="438"/>
        <pc:sldMkLst>
          <pc:docMk/>
          <pc:sldMk cId="0" sldId="267"/>
        </pc:sldMkLst>
        <pc:spChg chg="mod">
          <ac:chgData name="Fernando Corrêa da Silva Júnior" userId="84ee971c-294e-42c0-bfc6-58865918bc17" providerId="ADAL" clId="{A4C3D5E9-97C4-4FD1-B473-D34C55E969BD}" dt="2026-01-09T11:54:40.985" v="438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A8F99-4B34-4E9A-B82C-072C47FF973A}" type="datetimeFigureOut">
              <a:rPr lang="pt-BR" smtClean="0"/>
              <a:t>07/01/2026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6868C-91F6-42E4-BE9A-73DE7EDE49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828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071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"Here I explain the purpose of my analysis and the expected outcomes for mitigation and learning."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849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"Scattered Spider uses human exploitation to bypass technical controls. This slide explains who they are and why studying them is important."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416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"Provides context on Scattered Spider’s emergence and operational patterns."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543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"Explains the five stages of attacks for understanding and response planning."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756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"Demonstrates real-world impact of social engineering attacks."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05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"Shows how the attack maps to MITRE ATT&amp;CK for structured threat intelligence and response."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125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"Outlines measures to prevent exploitation of identity and access systems."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326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"Explains detection strategies and proactive incident response."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488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"Summarizes main lessons learned from the case analysis."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546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"Provides actionable recommendations to enhance organizational cybersecurity posture."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401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BC03-3BFB-B841-4893-30ABA58F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E8EF5F-0D05-7DF6-C4B8-D55D24FF2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4EFE7B-907E-8670-DFD3-2DA7EA6CE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"Provides actionable recommendations to enhance organizational cybersecurity posture."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AF57AA-4B35-F08C-BAD0-12F676123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637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"Concluding statement emphasizing holistic cybersecurity and providing contact information."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868C-91F6-42E4-BE9A-73DE7EDE49D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754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3735CA0-D733-1305-3B49-13510AEDC7B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fcorrea002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dirty="0"/>
              <a:t>CS50 Cybersecurity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888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rPr dirty="0"/>
              <a:t>Case Analysis: “</a:t>
            </a:r>
            <a:r>
              <a:rPr lang="pt-BR" sz="2200" dirty="0" err="1"/>
              <a:t>Snowflake</a:t>
            </a:r>
            <a:r>
              <a:rPr lang="pt-BR" sz="2200" dirty="0"/>
              <a:t> </a:t>
            </a:r>
            <a:r>
              <a:rPr lang="pt-BR" sz="2200" dirty="0" err="1"/>
              <a:t>Breach</a:t>
            </a:r>
            <a:r>
              <a:rPr lang="pt-BR" sz="2200" dirty="0"/>
              <a:t> </a:t>
            </a:r>
            <a:r>
              <a:rPr dirty="0"/>
              <a:t>” – </a:t>
            </a:r>
            <a:r>
              <a:rPr lang="en-US" sz="2200" dirty="0"/>
              <a:t>Credential Theft, MFA Failure and Large-Scale Data Access</a:t>
            </a:r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148C116-DFD2-29DB-747D-8EA82003C914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3340EF-B524-663A-1C5E-6BFE60B13449}"/>
              </a:ext>
            </a:extLst>
          </p:cNvPr>
          <p:cNvSpPr txBox="1"/>
          <p:nvPr/>
        </p:nvSpPr>
        <p:spPr>
          <a:xfrm>
            <a:off x="763187" y="2732520"/>
            <a:ext cx="869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pt-BR" sz="1800" b="1" dirty="0" err="1">
                <a:effectLst/>
                <a:latin typeface="Calibri" panose="020F0502020204030204" pitchFamily="34" charset="0"/>
              </a:rPr>
              <a:t>By</a:t>
            </a:r>
            <a:r>
              <a:rPr lang="pt-BR" sz="1800" b="1" dirty="0">
                <a:effectLst/>
                <a:latin typeface="Calibri" panose="020F0502020204030204" pitchFamily="34" charset="0"/>
              </a:rPr>
              <a:t>:</a:t>
            </a:r>
            <a:r>
              <a:rPr lang="pt-BR" sz="1800" dirty="0">
                <a:effectLst/>
                <a:latin typeface="Calibri" panose="020F0502020204030204" pitchFamily="34" charset="0"/>
              </a:rPr>
              <a:t> Fernando Corrêa 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pt-BR" sz="1800" b="1" dirty="0" err="1">
                <a:effectLst/>
                <a:latin typeface="Calibri" panose="020F0502020204030204" pitchFamily="34" charset="0"/>
              </a:rPr>
              <a:t>Location</a:t>
            </a:r>
            <a:r>
              <a:rPr lang="pt-BR" sz="1800" b="1" dirty="0">
                <a:effectLst/>
                <a:latin typeface="Calibri" panose="020F0502020204030204" pitchFamily="34" charset="0"/>
              </a:rPr>
              <a:t>:</a:t>
            </a:r>
            <a:r>
              <a:rPr lang="pt-BR" sz="1800" dirty="0">
                <a:effectLst/>
                <a:latin typeface="Calibri" panose="020F0502020204030204" pitchFamily="34" charset="0"/>
              </a:rPr>
              <a:t> Blumenau,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Brazil</a:t>
            </a:r>
            <a:endParaRPr lang="pt-BR" sz="1800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pt-BR" sz="1800" b="1" dirty="0" err="1">
                <a:effectLst/>
                <a:latin typeface="Calibri" panose="020F0502020204030204" pitchFamily="34" charset="0"/>
              </a:rPr>
              <a:t>edX</a:t>
            </a:r>
            <a:r>
              <a:rPr lang="pt-BR" sz="1800" b="1" dirty="0">
                <a:effectLst/>
                <a:latin typeface="Calibri" panose="020F0502020204030204" pitchFamily="34" charset="0"/>
              </a:rPr>
              <a:t> </a:t>
            </a:r>
            <a:r>
              <a:rPr lang="pt-BR" sz="1800" b="1" dirty="0" err="1">
                <a:effectLst/>
                <a:latin typeface="Calibri" panose="020F0502020204030204" pitchFamily="34" charset="0"/>
              </a:rPr>
              <a:t>Username</a:t>
            </a:r>
            <a:r>
              <a:rPr lang="pt-BR" sz="1800" b="1" dirty="0">
                <a:effectLst/>
                <a:latin typeface="Calibri" panose="020F0502020204030204" pitchFamily="34" charset="0"/>
              </a:rPr>
              <a:t>:</a:t>
            </a:r>
            <a:r>
              <a:rPr lang="pt-BR" sz="1800" dirty="0">
                <a:effectLst/>
                <a:latin typeface="Calibri" panose="020F0502020204030204" pitchFamily="34" charset="0"/>
              </a:rPr>
              <a:t> Fcorrea007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pt-BR" sz="1800" b="1" dirty="0">
                <a:effectLst/>
                <a:latin typeface="Calibri" panose="020F0502020204030204" pitchFamily="34" charset="0"/>
              </a:rPr>
              <a:t>GitHub </a:t>
            </a:r>
            <a:r>
              <a:rPr lang="pt-BR" sz="1800" b="1" dirty="0" err="1">
                <a:effectLst/>
                <a:latin typeface="Calibri" panose="020F0502020204030204" pitchFamily="34" charset="0"/>
              </a:rPr>
              <a:t>Username</a:t>
            </a:r>
            <a:r>
              <a:rPr lang="pt-BR" sz="1800" b="1" dirty="0">
                <a:effectLst/>
                <a:latin typeface="Calibri" panose="020F0502020204030204" pitchFamily="34" charset="0"/>
              </a:rPr>
              <a:t>:</a:t>
            </a:r>
            <a:r>
              <a:rPr lang="pt-BR" sz="1800" dirty="0">
                <a:effectLst/>
                <a:latin typeface="Calibri" panose="020F0502020204030204" pitchFamily="34" charset="0"/>
              </a:rPr>
              <a:t> fcorrea002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pt-BR" sz="1800" b="1" dirty="0">
                <a:effectLst/>
                <a:latin typeface="Calibri" panose="020F0502020204030204" pitchFamily="34" charset="0"/>
              </a:rPr>
              <a:t>Date </a:t>
            </a:r>
            <a:r>
              <a:rPr lang="pt-BR" sz="1800" b="1" dirty="0" err="1">
                <a:effectLst/>
                <a:latin typeface="Calibri" panose="020F0502020204030204" pitchFamily="34" charset="0"/>
              </a:rPr>
              <a:t>Recorded</a:t>
            </a:r>
            <a:r>
              <a:rPr lang="pt-BR" sz="1800" b="1" dirty="0">
                <a:effectLst/>
                <a:latin typeface="Calibri" panose="020F0502020204030204" pitchFamily="34" charset="0"/>
              </a:rPr>
              <a:t>:</a:t>
            </a:r>
            <a:r>
              <a:rPr lang="pt-BR" sz="1800" dirty="0">
                <a:effectLst/>
                <a:latin typeface="Calibri" panose="020F0502020204030204" pitchFamily="34" charset="0"/>
              </a:rPr>
              <a:t> Inserir data</a:t>
            </a: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pt-BR" sz="1800" b="1" dirty="0">
                <a:effectLst/>
                <a:latin typeface="Calibri" panose="020F0502020204030204" pitchFamily="34" charset="0"/>
              </a:rPr>
              <a:t>Incident Date:</a:t>
            </a:r>
            <a:r>
              <a:rPr lang="pt-BR" sz="1800" dirty="0">
                <a:effectLst/>
                <a:latin typeface="Calibri" panose="020F0502020204030204" pitchFamily="34" charset="0"/>
              </a:rPr>
              <a:t> May-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June</a:t>
            </a:r>
            <a:r>
              <a:rPr lang="pt-BR" sz="1800" dirty="0">
                <a:effectLst/>
                <a:latin typeface="Calibri" panose="020F0502020204030204" pitchFamily="34" charset="0"/>
              </a:rPr>
              <a:t>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>
                <a:effectLst/>
                <a:latin typeface="Calibri" panose="020F0502020204030204" pitchFamily="34" charset="0"/>
              </a:rPr>
              <a:t>CVE </a:t>
            </a:r>
            <a:r>
              <a:rPr lang="pt-BR" sz="1800" b="1" dirty="0" err="1">
                <a:effectLst/>
                <a:latin typeface="Calibri" panose="020F0502020204030204" pitchFamily="34" charset="0"/>
              </a:rPr>
              <a:t>Reference</a:t>
            </a:r>
            <a:r>
              <a:rPr lang="pt-BR" sz="1800" b="1" dirty="0">
                <a:effectLst/>
                <a:latin typeface="Calibri" panose="020F0502020204030204" pitchFamily="34" charset="0"/>
              </a:rPr>
              <a:t>:</a:t>
            </a:r>
            <a:r>
              <a:rPr lang="pt-BR" sz="1800" dirty="0">
                <a:effectLst/>
                <a:latin typeface="Calibri" panose="020F0502020204030204" pitchFamily="34" charset="0"/>
              </a:rPr>
              <a:t> </a:t>
            </a:r>
            <a:r>
              <a:rPr lang="pt-BR" dirty="0"/>
              <a:t>No formal CVE </a:t>
            </a:r>
            <a:r>
              <a:rPr lang="pt-BR" dirty="0" err="1"/>
              <a:t>assigned</a:t>
            </a:r>
            <a:r>
              <a:rPr lang="pt-BR" dirty="0"/>
              <a:t> (</a:t>
            </a:r>
            <a:r>
              <a:rPr lang="pt-BR" dirty="0" err="1"/>
              <a:t>credential</a:t>
            </a:r>
            <a:r>
              <a:rPr lang="pt-BR" dirty="0"/>
              <a:t> </a:t>
            </a:r>
            <a:r>
              <a:rPr lang="pt-BR" dirty="0" err="1"/>
              <a:t>compromise</a:t>
            </a:r>
            <a:r>
              <a:rPr lang="pt-BR" dirty="0"/>
              <a:t> </a:t>
            </a:r>
            <a:r>
              <a:rPr lang="pt-BR" dirty="0" err="1"/>
              <a:t>incident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Calibri" panose="020F0502020204030204" pitchFamily="34" charset="0"/>
              </a:rPr>
              <a:t>Topic relates to: </a:t>
            </a:r>
            <a:r>
              <a:rPr lang="en-US" sz="1800" dirty="0">
                <a:effectLst/>
                <a:latin typeface="Calibri" panose="020F0502020204030204" pitchFamily="34" charset="0"/>
              </a:rPr>
              <a:t>Authentication, Identity, Privacy, Cloud Security</a:t>
            </a:r>
            <a:endParaRPr lang="pt-BR" sz="1800" dirty="0">
              <a:effectLst/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9435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What</a:t>
            </a:r>
            <a:r>
              <a:rPr lang="pt-BR" sz="3600" b="1" dirty="0"/>
              <a:t> </a:t>
            </a:r>
            <a:r>
              <a:rPr lang="pt-BR" sz="3600" b="1" dirty="0" err="1"/>
              <a:t>is</a:t>
            </a:r>
            <a:r>
              <a:rPr lang="pt-BR" sz="3600" b="1" dirty="0"/>
              <a:t> </a:t>
            </a:r>
            <a:r>
              <a:rPr lang="pt-BR" sz="3600" b="1" dirty="0" err="1"/>
              <a:t>Snowflake</a:t>
            </a:r>
            <a:r>
              <a:rPr lang="pt-BR" sz="3600" b="1" dirty="0"/>
              <a:t>?</a:t>
            </a:r>
            <a:endParaRPr lang="pt-BR" dirty="0"/>
          </a:p>
        </p:txBody>
      </p:sp>
      <p:sp>
        <p:nvSpPr>
          <p:cNvPr id="3" name="TextBox 2"/>
          <p:cNvSpPr txBox="1"/>
          <p:nvPr/>
        </p:nvSpPr>
        <p:spPr>
          <a:xfrm>
            <a:off x="1565237" y="2223525"/>
            <a:ext cx="5008743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dirty="0"/>
              <a:t>Cloud-based data warehouse platform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dirty="0"/>
              <a:t>Used by large enterprises and governments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dirty="0"/>
              <a:t>Stores massive amounts of sensitive information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dirty="0"/>
              <a:t>High-value target for cybercriminals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EC0C66A-064F-ED73-FFF0-FCB614D34500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13701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What</a:t>
            </a:r>
            <a:r>
              <a:rPr lang="pt-BR" sz="3600" b="1" dirty="0"/>
              <a:t> </a:t>
            </a:r>
            <a:r>
              <a:rPr lang="pt-BR" sz="3600" b="1" dirty="0" err="1"/>
              <a:t>Happened</a:t>
            </a:r>
            <a:r>
              <a:rPr lang="pt-BR" sz="3600" b="1" dirty="0"/>
              <a:t>? Incident Overview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128327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b="1" dirty="0" err="1"/>
              <a:t>Snowflake</a:t>
            </a:r>
            <a:r>
              <a:rPr lang="pt-BR" b="1" dirty="0"/>
              <a:t> </a:t>
            </a:r>
            <a:r>
              <a:rPr lang="pt-BR" b="1" dirty="0" err="1"/>
              <a:t>Breach</a:t>
            </a:r>
            <a:r>
              <a:rPr lang="pt-BR" b="1" dirty="0"/>
              <a:t> – </a:t>
            </a:r>
            <a:r>
              <a:rPr lang="pt-BR" b="1" dirty="0" err="1"/>
              <a:t>Summary</a:t>
            </a:r>
            <a:endParaRPr lang="pt-BR" b="1" dirty="0"/>
          </a:p>
          <a:p>
            <a:endParaRPr lang="pt-BR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 err="1">
                <a:latin typeface="Arial" panose="020B0604020202020204" pitchFamily="34" charset="0"/>
              </a:rPr>
              <a:t>Multiple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customer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accounts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accessed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illegally</a:t>
            </a:r>
            <a:endParaRPr lang="pt-BR" altLang="pt-BR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 err="1">
                <a:latin typeface="Arial" panose="020B0604020202020204" pitchFamily="34" charset="0"/>
              </a:rPr>
              <a:t>Attackers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used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b="1" dirty="0" err="1">
                <a:latin typeface="Arial" panose="020B0604020202020204" pitchFamily="34" charset="0"/>
              </a:rPr>
              <a:t>valid</a:t>
            </a:r>
            <a:r>
              <a:rPr lang="pt-BR" altLang="pt-BR" b="1" dirty="0">
                <a:latin typeface="Arial" panose="020B0604020202020204" pitchFamily="34" charset="0"/>
              </a:rPr>
              <a:t> </a:t>
            </a:r>
            <a:r>
              <a:rPr lang="pt-BR" altLang="pt-BR" b="1" dirty="0" err="1">
                <a:latin typeface="Arial" panose="020B0604020202020204" pitchFamily="34" charset="0"/>
              </a:rPr>
              <a:t>stolen</a:t>
            </a:r>
            <a:r>
              <a:rPr lang="pt-BR" altLang="pt-BR" b="1" dirty="0">
                <a:latin typeface="Arial" panose="020B0604020202020204" pitchFamily="34" charset="0"/>
              </a:rPr>
              <a:t> </a:t>
            </a:r>
            <a:r>
              <a:rPr lang="pt-BR" altLang="pt-BR" b="1" dirty="0" err="1">
                <a:latin typeface="Arial" panose="020B0604020202020204" pitchFamily="34" charset="0"/>
              </a:rPr>
              <a:t>credentials</a:t>
            </a:r>
            <a:endParaRPr lang="pt-BR" altLang="pt-BR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No </a:t>
            </a:r>
            <a:r>
              <a:rPr lang="pt-BR" altLang="pt-BR" dirty="0" err="1">
                <a:latin typeface="Arial" panose="020B0604020202020204" pitchFamily="34" charset="0"/>
              </a:rPr>
              <a:t>Snowflake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vulnerability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exploited</a:t>
            </a:r>
            <a:endParaRPr lang="pt-BR" altLang="pt-BR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MFA </a:t>
            </a:r>
            <a:r>
              <a:rPr lang="pt-BR" altLang="pt-BR" dirty="0" err="1">
                <a:latin typeface="Arial" panose="020B0604020202020204" pitchFamily="34" charset="0"/>
              </a:rPr>
              <a:t>not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enabled</a:t>
            </a:r>
            <a:r>
              <a:rPr lang="pt-BR" altLang="pt-BR" dirty="0">
                <a:latin typeface="Arial" panose="020B0604020202020204" pitchFamily="34" charset="0"/>
              </a:rPr>
              <a:t> for </a:t>
            </a:r>
            <a:r>
              <a:rPr lang="pt-BR" altLang="pt-BR" dirty="0" err="1">
                <a:latin typeface="Arial" panose="020B0604020202020204" pitchFamily="34" charset="0"/>
              </a:rPr>
              <a:t>many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accounts</a:t>
            </a:r>
            <a:endParaRPr lang="pt-BR" altLang="pt-BR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Large-</a:t>
            </a:r>
            <a:r>
              <a:rPr lang="pt-BR" altLang="pt-BR" dirty="0" err="1">
                <a:latin typeface="Arial" panose="020B0604020202020204" pitchFamily="34" charset="0"/>
              </a:rPr>
              <a:t>scale</a:t>
            </a:r>
            <a:r>
              <a:rPr lang="pt-BR" altLang="pt-BR" dirty="0">
                <a:latin typeface="Arial" panose="020B0604020202020204" pitchFamily="34" charset="0"/>
              </a:rPr>
              <a:t> data </a:t>
            </a:r>
            <a:r>
              <a:rPr lang="pt-BR" altLang="pt-BR" dirty="0" err="1">
                <a:latin typeface="Arial" panose="020B0604020202020204" pitchFamily="34" charset="0"/>
              </a:rPr>
              <a:t>exfiltration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occurred</a:t>
            </a:r>
            <a:endParaRPr lang="pt-BR" altLang="pt-BR" dirty="0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1678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Attack</a:t>
            </a:r>
            <a:r>
              <a:rPr lang="pt-BR" sz="3600" b="1" dirty="0"/>
              <a:t> </a:t>
            </a:r>
            <a:r>
              <a:rPr lang="pt-BR" sz="3600" b="1" dirty="0" err="1"/>
              <a:t>Timeline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535612" y="2435629"/>
            <a:ext cx="89154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Arial" panose="020B0604020202020204" pitchFamily="34" charset="0"/>
              </a:rPr>
              <a:t>Mar–May 2024: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Credentials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stolen</a:t>
            </a:r>
            <a:r>
              <a:rPr lang="pt-BR" altLang="pt-BR" dirty="0">
                <a:latin typeface="Arial" panose="020B0604020202020204" pitchFamily="34" charset="0"/>
              </a:rPr>
              <a:t> via </a:t>
            </a:r>
            <a:r>
              <a:rPr lang="pt-BR" altLang="pt-BR" dirty="0" err="1">
                <a:latin typeface="Arial" panose="020B0604020202020204" pitchFamily="34" charset="0"/>
              </a:rPr>
              <a:t>infostealer</a:t>
            </a:r>
            <a:r>
              <a:rPr lang="pt-BR" altLang="pt-BR" dirty="0">
                <a:latin typeface="Arial" panose="020B0604020202020204" pitchFamily="34" charset="0"/>
              </a:rPr>
              <a:t> malware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Arial" panose="020B0604020202020204" pitchFamily="34" charset="0"/>
              </a:rPr>
              <a:t>Late May: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Attackers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tested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stolen</a:t>
            </a:r>
            <a:r>
              <a:rPr lang="pt-BR" altLang="pt-BR" dirty="0">
                <a:latin typeface="Arial" panose="020B0604020202020204" pitchFamily="34" charset="0"/>
              </a:rPr>
              <a:t> logins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b="1" dirty="0">
                <a:latin typeface="Arial" panose="020B0604020202020204" pitchFamily="34" charset="0"/>
              </a:rPr>
              <a:t>May 30 – </a:t>
            </a:r>
            <a:r>
              <a:rPr lang="pt-BR" altLang="pt-BR" b="1" dirty="0" err="1">
                <a:latin typeface="Arial" panose="020B0604020202020204" pitchFamily="34" charset="0"/>
              </a:rPr>
              <a:t>Jun</a:t>
            </a:r>
            <a:r>
              <a:rPr lang="pt-BR" altLang="pt-BR" b="1" dirty="0">
                <a:latin typeface="Arial" panose="020B0604020202020204" pitchFamily="34" charset="0"/>
              </a:rPr>
              <a:t> 5: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Unauthorized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access</a:t>
            </a:r>
            <a:r>
              <a:rPr lang="pt-BR" altLang="pt-BR" dirty="0">
                <a:latin typeface="Arial" panose="020B0604020202020204" pitchFamily="34" charset="0"/>
              </a:rPr>
              <a:t> + data export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b="1" dirty="0" err="1">
                <a:latin typeface="Arial" panose="020B0604020202020204" pitchFamily="34" charset="0"/>
              </a:rPr>
              <a:t>June</a:t>
            </a:r>
            <a:r>
              <a:rPr lang="pt-BR" altLang="pt-BR" b="1" dirty="0">
                <a:latin typeface="Arial" panose="020B0604020202020204" pitchFamily="34" charset="0"/>
              </a:rPr>
              <a:t> 2024: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Stolen</a:t>
            </a:r>
            <a:r>
              <a:rPr lang="pt-BR" altLang="pt-BR" dirty="0">
                <a:latin typeface="Arial" panose="020B0604020202020204" pitchFamily="34" charset="0"/>
              </a:rPr>
              <a:t> data </a:t>
            </a:r>
            <a:r>
              <a:rPr lang="pt-BR" altLang="pt-BR" dirty="0" err="1">
                <a:latin typeface="Arial" panose="020B0604020202020204" pitchFamily="34" charset="0"/>
              </a:rPr>
              <a:t>offered</a:t>
            </a:r>
            <a:r>
              <a:rPr lang="pt-BR" altLang="pt-BR" dirty="0">
                <a:latin typeface="Arial" panose="020B0604020202020204" pitchFamily="34" charset="0"/>
              </a:rPr>
              <a:t> for </a:t>
            </a:r>
            <a:r>
              <a:rPr lang="pt-BR" altLang="pt-BR" dirty="0" err="1">
                <a:latin typeface="Arial" panose="020B0604020202020204" pitchFamily="34" charset="0"/>
              </a:rPr>
              <a:t>sale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on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dark</a:t>
            </a:r>
            <a:r>
              <a:rPr lang="pt-BR" altLang="pt-BR" dirty="0">
                <a:latin typeface="Arial" panose="020B0604020202020204" pitchFamily="34" charset="0"/>
              </a:rPr>
              <a:t>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28B1E81-F667-7F4C-07E2-B432AB8C12BD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3291" y="270164"/>
            <a:ext cx="11606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How</a:t>
            </a:r>
            <a:r>
              <a:rPr lang="pt-BR" sz="3600" b="1" dirty="0"/>
              <a:t> </a:t>
            </a:r>
            <a:r>
              <a:rPr lang="pt-BR" sz="3600" b="1" dirty="0" err="1"/>
              <a:t>Credentials</a:t>
            </a:r>
            <a:r>
              <a:rPr lang="pt-BR" sz="3600" b="1" dirty="0"/>
              <a:t> </a:t>
            </a:r>
            <a:r>
              <a:rPr lang="pt-BR" sz="3600" b="1" dirty="0" err="1"/>
              <a:t>Were</a:t>
            </a:r>
            <a:r>
              <a:rPr lang="pt-BR" sz="3600" b="1" dirty="0"/>
              <a:t> </a:t>
            </a:r>
            <a:r>
              <a:rPr lang="pt-BR" sz="3600" b="1" dirty="0" err="1"/>
              <a:t>Stolen</a:t>
            </a:r>
            <a:endParaRPr lang="pt-BR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0911AF8-EA44-A7DE-C2A5-A4A3A2FEA503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lang="pt-BR"/>
              <a:t>Fernando Corrêa – Cyber Security Specialist &amp; Crisis Manager | Raízen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961402-9A24-4E38-EC3A-5CF1B77330E5}"/>
              </a:ext>
            </a:extLst>
          </p:cNvPr>
          <p:cNvSpPr txBox="1"/>
          <p:nvPr/>
        </p:nvSpPr>
        <p:spPr>
          <a:xfrm>
            <a:off x="1503983" y="2113566"/>
            <a:ext cx="68969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 err="1">
                <a:latin typeface="Arial" panose="020B0604020202020204" pitchFamily="34" charset="0"/>
              </a:rPr>
              <a:t>Infostealer</a:t>
            </a:r>
            <a:r>
              <a:rPr lang="pt-BR" altLang="pt-BR" dirty="0">
                <a:latin typeface="Arial" panose="020B0604020202020204" pitchFamily="34" charset="0"/>
              </a:rPr>
              <a:t> malware (</a:t>
            </a:r>
            <a:r>
              <a:rPr lang="pt-BR" altLang="pt-BR" dirty="0" err="1">
                <a:latin typeface="Arial" panose="020B0604020202020204" pitchFamily="34" charset="0"/>
              </a:rPr>
              <a:t>RedLine</a:t>
            </a:r>
            <a:r>
              <a:rPr lang="pt-BR" altLang="pt-BR" dirty="0">
                <a:latin typeface="Arial" panose="020B0604020202020204" pitchFamily="34" charset="0"/>
              </a:rPr>
              <a:t>, </a:t>
            </a:r>
            <a:r>
              <a:rPr lang="pt-BR" altLang="pt-BR" dirty="0" err="1">
                <a:latin typeface="Arial" panose="020B0604020202020204" pitchFamily="34" charset="0"/>
              </a:rPr>
              <a:t>Lumma</a:t>
            </a:r>
            <a:r>
              <a:rPr lang="pt-BR" altLang="pt-BR" dirty="0">
                <a:latin typeface="Arial" panose="020B0604020202020204" pitchFamily="34" charset="0"/>
              </a:rPr>
              <a:t>, Vidar, etc.)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 err="1">
                <a:latin typeface="Arial" panose="020B0604020202020204" pitchFamily="34" charset="0"/>
              </a:rPr>
              <a:t>Stole</a:t>
            </a:r>
            <a:r>
              <a:rPr lang="pt-BR" altLang="pt-BR" dirty="0">
                <a:latin typeface="Arial" panose="020B0604020202020204" pitchFamily="34" charset="0"/>
              </a:rPr>
              <a:t> browser-</a:t>
            </a:r>
            <a:r>
              <a:rPr lang="pt-BR" altLang="pt-BR" dirty="0" err="1">
                <a:latin typeface="Arial" panose="020B0604020202020204" pitchFamily="34" charset="0"/>
              </a:rPr>
              <a:t>saved</a:t>
            </a:r>
            <a:r>
              <a:rPr lang="pt-BR" altLang="pt-BR" dirty="0">
                <a:latin typeface="Arial" panose="020B0604020202020204" pitchFamily="34" charset="0"/>
              </a:rPr>
              <a:t>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 err="1">
                <a:latin typeface="Arial" panose="020B0604020202020204" pitchFamily="34" charset="0"/>
              </a:rPr>
              <a:t>Passwords</a:t>
            </a:r>
            <a:endParaRPr lang="pt-BR" altLang="pt-BR" dirty="0"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Cookies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Tokens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 err="1">
                <a:latin typeface="Arial" panose="020B0604020202020204" pitchFamily="34" charset="0"/>
              </a:rPr>
              <a:t>Auto-fill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credentials</a:t>
            </a:r>
            <a:endParaRPr lang="pt-BR" altLang="pt-BR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dirty="0">
                <a:latin typeface="Arial" panose="020B0604020202020204" pitchFamily="34" charset="0"/>
              </a:rPr>
              <a:t>Logs </a:t>
            </a:r>
            <a:r>
              <a:rPr lang="pt-BR" altLang="pt-BR" dirty="0" err="1">
                <a:latin typeface="Arial" panose="020B0604020202020204" pitchFamily="34" charset="0"/>
              </a:rPr>
              <a:t>sold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on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cybercrime</a:t>
            </a:r>
            <a:r>
              <a:rPr lang="pt-BR" altLang="pt-BR" dirty="0">
                <a:latin typeface="Arial" panose="020B0604020202020204" pitchFamily="34" charset="0"/>
              </a:rPr>
              <a:t> </a:t>
            </a:r>
            <a:r>
              <a:rPr lang="pt-BR" altLang="pt-BR" dirty="0" err="1">
                <a:latin typeface="Arial" panose="020B0604020202020204" pitchFamily="34" charset="0"/>
              </a:rPr>
              <a:t>markets</a:t>
            </a:r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2746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Why</a:t>
            </a:r>
            <a:r>
              <a:rPr lang="pt-BR" sz="3600" b="1" dirty="0"/>
              <a:t> MFA </a:t>
            </a:r>
            <a:r>
              <a:rPr lang="pt-BR" sz="3600" b="1" dirty="0" err="1"/>
              <a:t>Failed</a:t>
            </a:r>
            <a:endParaRPr dirty="0"/>
          </a:p>
        </p:txBody>
      </p:sp>
      <p:sp>
        <p:nvSpPr>
          <p:cNvPr id="5" name="TextBox 2"/>
          <p:cNvSpPr txBox="1"/>
          <p:nvPr/>
        </p:nvSpPr>
        <p:spPr>
          <a:xfrm>
            <a:off x="1602075" y="2401928"/>
            <a:ext cx="92894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Many customers had no MFA enabled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Legacy authentication paths allowed password-only login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Lack of device trust or IP restrictions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Stolen credentials provided full access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6344C5C-400E-3FB0-B7BE-6FEF95885601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20006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Attackers</a:t>
            </a:r>
            <a:r>
              <a:rPr lang="pt-BR" sz="3600" b="1" dirty="0"/>
              <a:t>’ </a:t>
            </a:r>
            <a:r>
              <a:rPr lang="pt-BR" sz="3600" b="1" dirty="0" err="1"/>
              <a:t>Objectives</a:t>
            </a:r>
            <a:endParaRPr lang="pt-BR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CBCD343-2BC4-7A80-CD74-406E67360D49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lang="pt-BR"/>
              <a:t>Fernando Corrêa – Cyber Security Specialist &amp; Crisis Manager | Raízen</a:t>
            </a:r>
            <a:endParaRPr lang="pt-B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7072A-4ABB-3A56-F8D0-209BAB2C8DA8}"/>
              </a:ext>
            </a:extLst>
          </p:cNvPr>
          <p:cNvSpPr txBox="1"/>
          <p:nvPr/>
        </p:nvSpPr>
        <p:spPr>
          <a:xfrm>
            <a:off x="1636711" y="2227811"/>
            <a:ext cx="891540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Extract full datasets from Snowflake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Extort companies for ransom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Sell stolen data on dark web forums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Targeted high-value records (PII, financial, BI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4028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Organizational</a:t>
            </a:r>
            <a:r>
              <a:rPr lang="pt-BR" sz="3600" b="1" dirty="0"/>
              <a:t> </a:t>
            </a:r>
            <a:r>
              <a:rPr lang="pt-BR" sz="3600" b="1" dirty="0" err="1"/>
              <a:t>Impact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253398" y="2067261"/>
            <a:ext cx="5469061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Affected sectors: finance, retail, SaaS, security, crypto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Impacts: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Reputational damage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Regulatory scrutiny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notifications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Potential legal 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Operational disruptions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55AEA2BE-6A7D-C594-752E-D4E25880EE53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1787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Technical</a:t>
            </a:r>
            <a:r>
              <a:rPr lang="pt-BR" sz="3600" b="1" dirty="0"/>
              <a:t> </a:t>
            </a:r>
            <a:r>
              <a:rPr lang="pt-BR" sz="3600" b="1" dirty="0" err="1"/>
              <a:t>Lessons</a:t>
            </a:r>
            <a:r>
              <a:rPr lang="pt-BR" sz="3600" b="1" dirty="0"/>
              <a:t> </a:t>
            </a:r>
            <a:r>
              <a:rPr lang="pt-BR" sz="3600" b="1" dirty="0" err="1"/>
              <a:t>Learned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82381" y="1932791"/>
            <a:ext cx="945572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Enforce </a:t>
            </a:r>
            <a:r>
              <a:rPr lang="en-US" b="1" dirty="0"/>
              <a:t>mandatory MFA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Browser-stored passwords = high risk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Monitoring must detect: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Abnormal logins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Impossible travel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Massive data exports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333333"/>
                </a:solidFill>
              </a:defRPr>
            </a:pPr>
            <a:r>
              <a:rPr lang="en-US" dirty="0"/>
              <a:t>Cloud security requires </a:t>
            </a:r>
            <a:r>
              <a:rPr lang="en-US" b="1" dirty="0"/>
              <a:t>shared responsibility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E0CC6B0-DAFF-DADB-8002-3B57AA5A80DE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3864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Snowflake’s</a:t>
            </a:r>
            <a:r>
              <a:rPr lang="pt-BR" sz="3600" b="1" dirty="0"/>
              <a:t> Response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389530" y="2277852"/>
            <a:ext cx="83640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Forced MFA rollout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Reset compromised sessions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Updated security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Improved anomaly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Collaboration with Mandiant, CrowdStrike, law enforcement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8B39753-9CB9-0AD5-9FB0-EABA1D294FA4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8707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 err="1"/>
              <a:t>Mitigation</a:t>
            </a:r>
            <a:r>
              <a:rPr lang="pt-BR" sz="3600" b="1" dirty="0"/>
              <a:t> </a:t>
            </a:r>
            <a:r>
              <a:rPr lang="pt-BR" sz="3600" b="1" dirty="0" err="1"/>
              <a:t>Recommendations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851327" y="1645920"/>
            <a:ext cx="843119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/>
              <a:t>For </a:t>
            </a:r>
            <a:r>
              <a:rPr lang="pt-BR" sz="2200" b="1" dirty="0" err="1"/>
              <a:t>Organizations</a:t>
            </a:r>
            <a:r>
              <a:rPr lang="pt-BR" sz="2200" b="1" dirty="0"/>
              <a:t>:</a:t>
            </a: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 err="1"/>
              <a:t>Enforce</a:t>
            </a:r>
            <a:r>
              <a:rPr lang="pt-BR" sz="2200" dirty="0"/>
              <a:t> MFA + SSO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/>
              <a:t>Block browser-</a:t>
            </a:r>
            <a:r>
              <a:rPr lang="pt-BR" sz="2200" dirty="0" err="1"/>
              <a:t>saved</a:t>
            </a:r>
            <a:r>
              <a:rPr lang="pt-BR" sz="2200" dirty="0"/>
              <a:t> </a:t>
            </a:r>
            <a:r>
              <a:rPr lang="pt-BR" sz="2200" dirty="0" err="1"/>
              <a:t>credentials</a:t>
            </a: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/>
              <a:t>Use EDR for malware </a:t>
            </a:r>
            <a:r>
              <a:rPr lang="pt-BR" sz="2200" dirty="0" err="1"/>
              <a:t>detection</a:t>
            </a: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 err="1"/>
              <a:t>Restrict</a:t>
            </a:r>
            <a:r>
              <a:rPr lang="pt-BR" sz="2200" dirty="0"/>
              <a:t> </a:t>
            </a:r>
            <a:r>
              <a:rPr lang="pt-BR" sz="2200" dirty="0" err="1"/>
              <a:t>access</a:t>
            </a:r>
            <a:r>
              <a:rPr lang="pt-BR" sz="2200" dirty="0"/>
              <a:t> </a:t>
            </a:r>
            <a:r>
              <a:rPr lang="pt-BR" sz="2200" dirty="0" err="1"/>
              <a:t>by</a:t>
            </a:r>
            <a:r>
              <a:rPr lang="pt-BR" sz="2200" dirty="0"/>
              <a:t> IP/network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/>
              <a:t>Monitor </a:t>
            </a:r>
            <a:r>
              <a:rPr lang="pt-BR" sz="2200" dirty="0" err="1"/>
              <a:t>large</a:t>
            </a:r>
            <a:r>
              <a:rPr lang="pt-BR" sz="2200" dirty="0"/>
              <a:t> export queries</a:t>
            </a:r>
          </a:p>
          <a:p>
            <a:r>
              <a:rPr lang="pt-BR" sz="2200" b="1" dirty="0"/>
              <a:t>For </a:t>
            </a:r>
            <a:r>
              <a:rPr lang="pt-BR" sz="2200" b="1" dirty="0" err="1"/>
              <a:t>Individuals</a:t>
            </a:r>
            <a:r>
              <a:rPr lang="pt-BR" sz="2200" b="1" dirty="0"/>
              <a:t>:</a:t>
            </a: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/>
              <a:t>Use </a:t>
            </a:r>
            <a:r>
              <a:rPr lang="pt-BR" sz="2200" dirty="0" err="1"/>
              <a:t>password</a:t>
            </a:r>
            <a:r>
              <a:rPr lang="pt-BR" sz="2200" dirty="0"/>
              <a:t> managers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 err="1"/>
              <a:t>Avoid</a:t>
            </a:r>
            <a:r>
              <a:rPr lang="pt-BR" sz="2200" dirty="0"/>
              <a:t> </a:t>
            </a:r>
            <a:r>
              <a:rPr lang="pt-BR" sz="2200" dirty="0" err="1"/>
              <a:t>corporate</a:t>
            </a:r>
            <a:r>
              <a:rPr lang="pt-BR" sz="2200" dirty="0"/>
              <a:t> </a:t>
            </a:r>
            <a:r>
              <a:rPr lang="pt-BR" sz="2200" dirty="0" err="1"/>
              <a:t>access</a:t>
            </a:r>
            <a:r>
              <a:rPr lang="pt-BR" sz="2200" dirty="0"/>
              <a:t> </a:t>
            </a:r>
            <a:r>
              <a:rPr lang="pt-BR" sz="2200" dirty="0" err="1"/>
              <a:t>on</a:t>
            </a:r>
            <a:r>
              <a:rPr lang="pt-BR" sz="2200" dirty="0"/>
              <a:t> personal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/>
              <a:t>Use hardware </a:t>
            </a:r>
            <a:r>
              <a:rPr lang="pt-BR" sz="2200" dirty="0" err="1"/>
              <a:t>authentication</a:t>
            </a:r>
            <a:r>
              <a:rPr lang="pt-BR" sz="2200" dirty="0"/>
              <a:t> (FIDO </a:t>
            </a:r>
            <a:r>
              <a:rPr lang="pt-BR" sz="2200" dirty="0" err="1"/>
              <a:t>keys</a:t>
            </a:r>
            <a:r>
              <a:rPr lang="pt-BR" sz="2200" dirty="0"/>
              <a:t>)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4143692-2788-D751-4CC0-8E3C1EE21087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614DB-5E9E-0B67-BD3F-79D8E7588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0B47A3-A1A5-4CF8-171B-CF40F4416E53}"/>
              </a:ext>
            </a:extLst>
          </p:cNvPr>
          <p:cNvSpPr txBox="1"/>
          <p:nvPr/>
        </p:nvSpPr>
        <p:spPr>
          <a:xfrm>
            <a:off x="731520" y="457200"/>
            <a:ext cx="29872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sz="3600" b="1" dirty="0"/>
              <a:t>Final </a:t>
            </a:r>
            <a:r>
              <a:rPr lang="pt-BR" sz="3600" b="1" dirty="0" err="1"/>
              <a:t>Thoughts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F6345-B1C1-950F-AD43-7D0B2178701C}"/>
              </a:ext>
            </a:extLst>
          </p:cNvPr>
          <p:cNvSpPr txBox="1"/>
          <p:nvPr/>
        </p:nvSpPr>
        <p:spPr>
          <a:xfrm>
            <a:off x="1246094" y="2138979"/>
            <a:ext cx="6449651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The cloud </a:t>
            </a:r>
            <a:r>
              <a:rPr lang="pt-BR" altLang="pt-BR" sz="2200" dirty="0" err="1">
                <a:latin typeface="Arial" panose="020B0604020202020204" pitchFamily="34" charset="0"/>
              </a:rPr>
              <a:t>wasn’t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hacked</a:t>
            </a:r>
            <a:r>
              <a:rPr lang="pt-BR" altLang="pt-BR" sz="2200" dirty="0">
                <a:latin typeface="Arial" panose="020B0604020202020204" pitchFamily="34" charset="0"/>
              </a:rPr>
              <a:t> — </a:t>
            </a:r>
            <a:r>
              <a:rPr lang="pt-BR" altLang="pt-BR" sz="2200" b="1" dirty="0" err="1">
                <a:latin typeface="Arial" panose="020B0604020202020204" pitchFamily="34" charset="0"/>
              </a:rPr>
              <a:t>credentials</a:t>
            </a:r>
            <a:r>
              <a:rPr lang="pt-BR" altLang="pt-BR" sz="2200" b="1" dirty="0">
                <a:latin typeface="Arial" panose="020B0604020202020204" pitchFamily="34" charset="0"/>
              </a:rPr>
              <a:t> </a:t>
            </a:r>
            <a:r>
              <a:rPr lang="pt-BR" altLang="pt-BR" sz="2200" b="1" dirty="0" err="1">
                <a:latin typeface="Arial" panose="020B0604020202020204" pitchFamily="34" charset="0"/>
              </a:rPr>
              <a:t>were</a:t>
            </a:r>
            <a:endParaRPr lang="pt-BR" altLang="pt-BR" sz="22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200" dirty="0" err="1">
                <a:latin typeface="Arial" panose="020B0604020202020204" pitchFamily="34" charset="0"/>
              </a:rPr>
              <a:t>Human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error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remains</a:t>
            </a:r>
            <a:r>
              <a:rPr lang="pt-BR" altLang="pt-BR" sz="2200" dirty="0">
                <a:latin typeface="Arial" panose="020B0604020202020204" pitchFamily="34" charset="0"/>
              </a:rPr>
              <a:t> the #1 </a:t>
            </a:r>
            <a:r>
              <a:rPr lang="pt-BR" altLang="pt-BR" sz="2200" dirty="0" err="1">
                <a:latin typeface="Arial" panose="020B0604020202020204" pitchFamily="34" charset="0"/>
              </a:rPr>
              <a:t>attack</a:t>
            </a:r>
            <a:r>
              <a:rPr lang="pt-BR" altLang="pt-BR" sz="2200" dirty="0">
                <a:latin typeface="Arial" panose="020B0604020202020204" pitchFamily="34" charset="0"/>
              </a:rPr>
              <a:t> vector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Strong </a:t>
            </a:r>
            <a:r>
              <a:rPr lang="pt-BR" altLang="pt-BR" sz="2200" dirty="0" err="1">
                <a:latin typeface="Arial" panose="020B0604020202020204" pitchFamily="34" charset="0"/>
              </a:rPr>
              <a:t>identity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protection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is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critical</a:t>
            </a:r>
            <a:endParaRPr lang="pt-BR" altLang="pt-BR" sz="22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200" dirty="0" err="1">
                <a:latin typeface="Arial" panose="020B0604020202020204" pitchFamily="34" charset="0"/>
              </a:rPr>
              <a:t>Preventable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with</a:t>
            </a:r>
            <a:r>
              <a:rPr lang="pt-BR" altLang="pt-BR" sz="2200" dirty="0">
                <a:latin typeface="Arial" panose="020B0604020202020204" pitchFamily="34" charset="0"/>
              </a:rPr>
              <a:t> MFA, </a:t>
            </a:r>
            <a:r>
              <a:rPr lang="pt-BR" altLang="pt-BR" sz="2200" dirty="0" err="1">
                <a:latin typeface="Arial" panose="020B0604020202020204" pitchFamily="34" charset="0"/>
              </a:rPr>
              <a:t>monitoring</a:t>
            </a:r>
            <a:r>
              <a:rPr lang="pt-BR" altLang="pt-BR" sz="2200" dirty="0">
                <a:latin typeface="Arial" panose="020B0604020202020204" pitchFamily="34" charset="0"/>
              </a:rPr>
              <a:t>, </a:t>
            </a:r>
            <a:r>
              <a:rPr lang="pt-BR" altLang="pt-BR" sz="2200" dirty="0" err="1">
                <a:latin typeface="Arial" panose="020B0604020202020204" pitchFamily="34" charset="0"/>
              </a:rPr>
              <a:t>and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hygiene</a:t>
            </a:r>
            <a:endParaRPr lang="pt-BR" altLang="pt-BR" sz="22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200" dirty="0">
                <a:latin typeface="Arial" panose="020B0604020202020204" pitchFamily="34" charset="0"/>
              </a:rPr>
              <a:t>“Security starts </a:t>
            </a:r>
            <a:r>
              <a:rPr lang="pt-BR" altLang="pt-BR" sz="2200" dirty="0" err="1">
                <a:latin typeface="Arial" panose="020B0604020202020204" pitchFamily="34" charset="0"/>
              </a:rPr>
              <a:t>with</a:t>
            </a:r>
            <a:r>
              <a:rPr lang="pt-BR" altLang="pt-BR" sz="2200" dirty="0">
                <a:latin typeface="Arial" panose="020B0604020202020204" pitchFamily="34" charset="0"/>
              </a:rPr>
              <a:t> </a:t>
            </a:r>
            <a:r>
              <a:rPr lang="pt-BR" altLang="pt-BR" sz="2200" dirty="0" err="1">
                <a:latin typeface="Arial" panose="020B0604020202020204" pitchFamily="34" charset="0"/>
              </a:rPr>
              <a:t>authentication</a:t>
            </a:r>
            <a:r>
              <a:rPr lang="pt-BR" altLang="pt-BR" sz="2200" dirty="0"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CFA8A9F-492C-4C65-03E2-161440F04C1C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  <p:extLst>
      <p:ext uri="{BB962C8B-B14F-4D97-AF65-F5344CB8AC3E}">
        <p14:creationId xmlns:p14="http://schemas.microsoft.com/office/powerpoint/2010/main" val="168449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5568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B4C"/>
                </a:solidFill>
              </a:defRPr>
            </a:pPr>
            <a:r>
              <a:rPr lang="pt-BR" dirty="0" err="1"/>
              <a:t>Closing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51001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333333"/>
                </a:solidFill>
              </a:defRPr>
            </a:pPr>
            <a:r>
              <a:rPr dirty="0"/>
              <a:t>“Cybersecurity is no longer just about technology — it’s about people, processes, and persistence.”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endParaRPr dirty="0"/>
          </a:p>
          <a:p>
            <a:pPr>
              <a:defRPr sz="2200">
                <a:solidFill>
                  <a:srgbClr val="333333"/>
                </a:solidFill>
              </a:defRPr>
            </a:pPr>
            <a:r>
              <a:rPr dirty="0"/>
              <a:t>Thank you!</a:t>
            </a:r>
            <a:endParaRPr lang="pt-BR" dirty="0"/>
          </a:p>
          <a:p>
            <a:pPr>
              <a:defRPr sz="2200">
                <a:solidFill>
                  <a:srgbClr val="333333"/>
                </a:solidFill>
              </a:defRPr>
            </a:pPr>
            <a:endParaRPr lang="pt-BR" dirty="0"/>
          </a:p>
          <a:p>
            <a:pPr>
              <a:defRPr sz="2200">
                <a:solidFill>
                  <a:srgbClr val="333333"/>
                </a:solidFill>
              </a:defRPr>
            </a:pPr>
            <a:endParaRPr lang="pt-BR" dirty="0"/>
          </a:p>
          <a:p>
            <a:pPr>
              <a:defRPr sz="2200">
                <a:solidFill>
                  <a:srgbClr val="333333"/>
                </a:solidFill>
              </a:defRPr>
            </a:pPr>
            <a:endParaRPr dirty="0"/>
          </a:p>
          <a:p>
            <a:pPr>
              <a:defRPr sz="2200">
                <a:solidFill>
                  <a:srgbClr val="333333"/>
                </a:solidFill>
              </a:defRPr>
            </a:pPr>
            <a:r>
              <a:rPr dirty="0"/>
              <a:t>Contact: </a:t>
            </a:r>
            <a:br>
              <a:rPr lang="pt-BR" dirty="0"/>
            </a:br>
            <a:r>
              <a:rPr lang="pt-BR" dirty="0"/>
              <a:t>Email: </a:t>
            </a:r>
            <a:r>
              <a:rPr dirty="0">
                <a:hlinkClick r:id="rId3"/>
              </a:rPr>
              <a:t>fcorrea002@gmail.com</a:t>
            </a:r>
            <a:br>
              <a:rPr lang="pt-BR" dirty="0"/>
            </a:br>
            <a:r>
              <a:rPr dirty="0"/>
              <a:t>LinkedIn: </a:t>
            </a:r>
            <a:r>
              <a:rPr lang="pt-BR" sz="2200" dirty="0"/>
              <a:t>linkedin.com/in/fernandocorrea007</a:t>
            </a:r>
            <a:br>
              <a:rPr lang="pt-BR" dirty="0"/>
            </a:br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4297965-6BE9-95C3-A0CE-B63C6593785B}"/>
              </a:ext>
            </a:extLst>
          </p:cNvPr>
          <p:cNvSpPr txBox="1"/>
          <p:nvPr/>
        </p:nvSpPr>
        <p:spPr>
          <a:xfrm>
            <a:off x="6722459" y="6400800"/>
            <a:ext cx="5466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646464"/>
                </a:solidFill>
              </a:defRPr>
            </a:pPr>
            <a:r>
              <a:rPr dirty="0"/>
              <a:t>Fernando Corrêa – Cyber Security Specialist </a:t>
            </a:r>
            <a:r>
              <a:rPr lang="pt-BR" dirty="0"/>
              <a:t>&amp; Crisis Manager</a:t>
            </a:r>
            <a:r>
              <a:rPr dirty="0"/>
              <a:t> | Raízen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097e182-faaa-4e50-90ae-9c7001a20bdb}" enabled="1" method="Privileged" siteId="{e7c411a6-9013-4967-a5b1-3d08f9edc13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2777</TotalTime>
  <Words>768</Words>
  <Application>Microsoft Office PowerPoint</Application>
  <PresentationFormat>Personalizar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Fernando Corrêa da Silva Júnior</dc:creator>
  <cp:keywords/>
  <dc:description>generated using python-pptx</dc:description>
  <cp:lastModifiedBy>Fernando Corrêa da Silva Júnior</cp:lastModifiedBy>
  <cp:revision>3</cp:revision>
  <dcterms:created xsi:type="dcterms:W3CDTF">2013-01-27T09:14:16Z</dcterms:created>
  <dcterms:modified xsi:type="dcterms:W3CDTF">2026-01-09T11:55:00Z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Público</vt:lpwstr>
  </property>
</Properties>
</file>