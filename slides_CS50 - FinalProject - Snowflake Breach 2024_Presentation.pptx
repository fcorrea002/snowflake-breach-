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57" r:id="rId4"/>
    <p:sldId id="259" r:id="rId5"/>
    <p:sldId id="260" r:id="rId6"/>
    <p:sldId id="262" r:id="rId7"/>
    <p:sldId id="261" r:id="rId8"/>
    <p:sldId id="263" r:id="rId9"/>
    <p:sldId id="264" r:id="rId10"/>
    <p:sldId id="265" r:id="rId11"/>
    <p:sldId id="266" r:id="rId12"/>
    <p:sldId id="268" r:id="rId13"/>
    <p:sldId id="267" r:id="rId1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4DB09ED-5955-4782-AADE-C6FB2973B0A5}" v="4" dt="2026-01-09T11:54:40.9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6199" autoAdjust="0"/>
  </p:normalViewPr>
  <p:slideViewPr>
    <p:cSldViewPr snapToGrid="0" snapToObjects="1">
      <p:cViewPr varScale="1">
        <p:scale>
          <a:sx n="92" d="100"/>
          <a:sy n="92" d="100"/>
        </p:scale>
        <p:origin x="1194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rnando Corrêa da Silva Júnior" userId="84ee971c-294e-42c0-bfc6-58865918bc17" providerId="ADAL" clId="{A4C3D5E9-97C4-4FD1-B473-D34C55E969BD}"/>
    <pc:docChg chg="undo custSel addSld delSld modSld sldOrd">
      <pc:chgData name="Fernando Corrêa da Silva Júnior" userId="84ee971c-294e-42c0-bfc6-58865918bc17" providerId="ADAL" clId="{A4C3D5E9-97C4-4FD1-B473-D34C55E969BD}" dt="2026-01-09T13:31:12.404" v="482" actId="20577"/>
      <pc:docMkLst>
        <pc:docMk/>
      </pc:docMkLst>
      <pc:sldChg chg="modSp mod">
        <pc:chgData name="Fernando Corrêa da Silva Júnior" userId="84ee971c-294e-42c0-bfc6-58865918bc17" providerId="ADAL" clId="{A4C3D5E9-97C4-4FD1-B473-D34C55E969BD}" dt="2026-01-09T13:31:12.404" v="482" actId="20577"/>
        <pc:sldMkLst>
          <pc:docMk/>
          <pc:sldMk cId="0" sldId="256"/>
        </pc:sldMkLst>
        <pc:spChg chg="mod">
          <ac:chgData name="Fernando Corrêa da Silva Júnior" userId="84ee971c-294e-42c0-bfc6-58865918bc17" providerId="ADAL" clId="{A4C3D5E9-97C4-4FD1-B473-D34C55E969BD}" dt="2026-01-09T13:31:12.404" v="482" actId="20577"/>
          <ac:spMkLst>
            <pc:docMk/>
            <pc:sldMk cId="0" sldId="256"/>
            <ac:spMk id="6" creationId="{3A3340EF-B524-663A-1C5E-6BFE60B13449}"/>
          </ac:spMkLst>
        </pc:spChg>
      </pc:sldChg>
      <pc:sldChg chg="modSp mod">
        <pc:chgData name="Fernando Corrêa da Silva Júnior" userId="84ee971c-294e-42c0-bfc6-58865918bc17" providerId="ADAL" clId="{A4C3D5E9-97C4-4FD1-B473-D34C55E969BD}" dt="2026-01-09T11:54:40.985" v="438"/>
        <pc:sldMkLst>
          <pc:docMk/>
          <pc:sldMk cId="0" sldId="267"/>
        </pc:sldMkLst>
        <pc:spChg chg="mod">
          <ac:chgData name="Fernando Corrêa da Silva Júnior" userId="84ee971c-294e-42c0-bfc6-58865918bc17" providerId="ADAL" clId="{A4C3D5E9-97C4-4FD1-B473-D34C55E969BD}" dt="2026-01-09T11:54:40.985" v="438"/>
          <ac:spMkLst>
            <pc:docMk/>
            <pc:sldMk cId="0" sldId="267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CA8F99-4B34-4E9A-B82C-072C47FF973A}" type="datetimeFigureOut">
              <a:rPr lang="pt-BR" smtClean="0"/>
              <a:t>09/01/2026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36868C-91F6-42E4-BE9A-73DE7EDE49D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888281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36868C-91F6-42E4-BE9A-73DE7EDE49D0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860718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"Here I explain the purpose of my analysis and the expected outcomes for mitigation and learning."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36868C-91F6-42E4-BE9A-73DE7EDE49D0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368492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"Scattered Spider uses human exploitation to bypass technical controls. This slide explains who they are and why studying them is important."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36868C-91F6-42E4-BE9A-73DE7EDE49D0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44162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"Provides context on Scattered Spider’s emergence and operational patterns."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36868C-91F6-42E4-BE9A-73DE7EDE49D0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65438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"Explains the five stages of attacks for understanding and response planning."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36868C-91F6-42E4-BE9A-73DE7EDE49D0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117563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"Demonstrates real-world impact of social engineering attacks."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36868C-91F6-42E4-BE9A-73DE7EDE49D0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547058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"Shows how the attack maps to MITRE ATT&amp;CK for structured threat intelligence and response."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36868C-91F6-42E4-BE9A-73DE7EDE49D0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712575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"Outlines measures to prevent exploitation of identity and access systems."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36868C-91F6-42E4-BE9A-73DE7EDE49D0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13262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"Explains detection strategies and proactive incident response."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36868C-91F6-42E4-BE9A-73DE7EDE49D0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34888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"Summarizes main lessons learned from the case analysis."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36868C-91F6-42E4-BE9A-73DE7EDE49D0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854606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"Provides actionable recommendations to enhance organizational cybersecurity posture."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36868C-91F6-42E4-BE9A-73DE7EDE49D0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440173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EBC03-3BFB-B841-4893-30ABA58F88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3E8EF5F-0D05-7DF6-C4B8-D55D24FF2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24EFE7B-907E-8670-DFD3-2DA7EA6CE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"Provides actionable recommendations to enhance organizational cybersecurity posture."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EAF57AA-4B35-F08C-BAD0-12F6761233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36868C-91F6-42E4-BE9A-73DE7EDE49D0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5163794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"Concluding statement emphasizing holistic cybersecurity and providing contact information."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36868C-91F6-42E4-BE9A-73DE7EDE49D0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07544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C3735CA0-D733-1305-3B49-13510AEDC7B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4413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pt-BR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Público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mailto:fcorrea002@gmail.com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2B4C"/>
                </a:solidFill>
              </a:defRPr>
            </a:pPr>
            <a:r>
              <a:rPr dirty="0"/>
              <a:t>CS50 Cybersecurity Final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645920"/>
            <a:ext cx="1218882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333333"/>
                </a:solidFill>
              </a:defRPr>
            </a:pPr>
            <a:r>
              <a:rPr dirty="0"/>
              <a:t>Case Analysis: “</a:t>
            </a:r>
            <a:r>
              <a:rPr lang="pt-BR" sz="2200" dirty="0" err="1"/>
              <a:t>Snowflake</a:t>
            </a:r>
            <a:r>
              <a:rPr lang="pt-BR" sz="2200" dirty="0"/>
              <a:t> </a:t>
            </a:r>
            <a:r>
              <a:rPr lang="pt-BR" sz="2200" dirty="0" err="1"/>
              <a:t>Breach</a:t>
            </a:r>
            <a:r>
              <a:rPr lang="pt-BR" sz="2200" dirty="0"/>
              <a:t> </a:t>
            </a:r>
            <a:r>
              <a:rPr dirty="0"/>
              <a:t>” – </a:t>
            </a:r>
            <a:r>
              <a:rPr lang="en-US" sz="2200" dirty="0"/>
              <a:t>Credential Theft, MFA Failure and Large-Scale Data Access</a:t>
            </a:r>
            <a:endParaRPr dirty="0"/>
          </a:p>
        </p:txBody>
      </p:sp>
      <p:sp>
        <p:nvSpPr>
          <p:cNvPr id="5" name="TextBox 3">
            <a:extLst>
              <a:ext uri="{FF2B5EF4-FFF2-40B4-BE49-F238E27FC236}">
                <a16:creationId xmlns:a16="http://schemas.microsoft.com/office/drawing/2014/main" id="{E148C116-DFD2-29DB-747D-8EA82003C914}"/>
              </a:ext>
            </a:extLst>
          </p:cNvPr>
          <p:cNvSpPr txBox="1"/>
          <p:nvPr/>
        </p:nvSpPr>
        <p:spPr>
          <a:xfrm>
            <a:off x="6722459" y="6400800"/>
            <a:ext cx="54663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>
                <a:solidFill>
                  <a:srgbClr val="646464"/>
                </a:solidFill>
              </a:defRPr>
            </a:pPr>
            <a:r>
              <a:rPr dirty="0"/>
              <a:t>Fernando Corrêa – Cyber Security Specialist </a:t>
            </a:r>
            <a:r>
              <a:rPr lang="pt-BR" dirty="0"/>
              <a:t>&amp; Crisis Manager</a:t>
            </a:r>
            <a:r>
              <a:rPr dirty="0"/>
              <a:t> | Raízen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A3340EF-B524-663A-1C5E-6BFE60B13449}"/>
              </a:ext>
            </a:extLst>
          </p:cNvPr>
          <p:cNvSpPr txBox="1"/>
          <p:nvPr/>
        </p:nvSpPr>
        <p:spPr>
          <a:xfrm>
            <a:off x="763187" y="2732520"/>
            <a:ext cx="869245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indent="-285750">
              <a:buFont typeface="Arial" panose="020B0604020202020204" pitchFamily="34" charset="0"/>
              <a:buChar char="•"/>
            </a:pPr>
            <a:r>
              <a:rPr lang="pt-BR" sz="1800" b="1" dirty="0" err="1">
                <a:effectLst/>
                <a:latin typeface="Calibri" panose="020F0502020204030204" pitchFamily="34" charset="0"/>
              </a:rPr>
              <a:t>By</a:t>
            </a:r>
            <a:r>
              <a:rPr lang="pt-BR" sz="1800" b="1" dirty="0">
                <a:effectLst/>
                <a:latin typeface="Calibri" panose="020F0502020204030204" pitchFamily="34" charset="0"/>
              </a:rPr>
              <a:t>:</a:t>
            </a:r>
            <a:r>
              <a:rPr lang="pt-BR" sz="1800" dirty="0">
                <a:effectLst/>
                <a:latin typeface="Calibri" panose="020F0502020204030204" pitchFamily="34" charset="0"/>
              </a:rPr>
              <a:t> Fernando Corrêa </a:t>
            </a:r>
          </a:p>
          <a:p>
            <a:pPr marL="285750" marR="0" indent="-285750">
              <a:buFont typeface="Arial" panose="020B0604020202020204" pitchFamily="34" charset="0"/>
              <a:buChar char="•"/>
            </a:pPr>
            <a:r>
              <a:rPr lang="pt-BR" sz="1800" b="1" dirty="0" err="1">
                <a:effectLst/>
                <a:latin typeface="Calibri" panose="020F0502020204030204" pitchFamily="34" charset="0"/>
              </a:rPr>
              <a:t>Location</a:t>
            </a:r>
            <a:r>
              <a:rPr lang="pt-BR" sz="1800" b="1" dirty="0">
                <a:effectLst/>
                <a:latin typeface="Calibri" panose="020F0502020204030204" pitchFamily="34" charset="0"/>
              </a:rPr>
              <a:t>:</a:t>
            </a:r>
            <a:r>
              <a:rPr lang="pt-BR" sz="1800" dirty="0">
                <a:effectLst/>
                <a:latin typeface="Calibri" panose="020F0502020204030204" pitchFamily="34" charset="0"/>
              </a:rPr>
              <a:t> Blumenau, </a:t>
            </a:r>
            <a:r>
              <a:rPr lang="pt-BR" sz="1800" dirty="0" err="1">
                <a:effectLst/>
                <a:latin typeface="Calibri" panose="020F0502020204030204" pitchFamily="34" charset="0"/>
              </a:rPr>
              <a:t>Brazil</a:t>
            </a:r>
            <a:endParaRPr lang="pt-BR" sz="1800" dirty="0">
              <a:effectLst/>
              <a:latin typeface="Calibri" panose="020F0502020204030204" pitchFamily="34" charset="0"/>
            </a:endParaRPr>
          </a:p>
          <a:p>
            <a:pPr marL="285750" marR="0" indent="-285750">
              <a:buFont typeface="Arial" panose="020B0604020202020204" pitchFamily="34" charset="0"/>
              <a:buChar char="•"/>
            </a:pPr>
            <a:r>
              <a:rPr lang="pt-BR" sz="1800" b="1" dirty="0" err="1">
                <a:effectLst/>
                <a:latin typeface="Calibri" panose="020F0502020204030204" pitchFamily="34" charset="0"/>
              </a:rPr>
              <a:t>edX</a:t>
            </a:r>
            <a:r>
              <a:rPr lang="pt-BR" sz="1800" b="1" dirty="0">
                <a:effectLst/>
                <a:latin typeface="Calibri" panose="020F0502020204030204" pitchFamily="34" charset="0"/>
              </a:rPr>
              <a:t> </a:t>
            </a:r>
            <a:r>
              <a:rPr lang="pt-BR" sz="1800" b="1" dirty="0" err="1">
                <a:effectLst/>
                <a:latin typeface="Calibri" panose="020F0502020204030204" pitchFamily="34" charset="0"/>
              </a:rPr>
              <a:t>Username</a:t>
            </a:r>
            <a:r>
              <a:rPr lang="pt-BR" sz="1800" b="1" dirty="0">
                <a:effectLst/>
                <a:latin typeface="Calibri" panose="020F0502020204030204" pitchFamily="34" charset="0"/>
              </a:rPr>
              <a:t>:</a:t>
            </a:r>
            <a:r>
              <a:rPr lang="pt-BR" sz="1800" dirty="0">
                <a:effectLst/>
                <a:latin typeface="Calibri" panose="020F0502020204030204" pitchFamily="34" charset="0"/>
              </a:rPr>
              <a:t> Fcorrea007</a:t>
            </a:r>
          </a:p>
          <a:p>
            <a:pPr marL="285750" marR="0" indent="-285750">
              <a:buFont typeface="Arial" panose="020B0604020202020204" pitchFamily="34" charset="0"/>
              <a:buChar char="•"/>
            </a:pPr>
            <a:r>
              <a:rPr lang="pt-BR" sz="1800" b="1" dirty="0">
                <a:effectLst/>
                <a:latin typeface="Calibri" panose="020F0502020204030204" pitchFamily="34" charset="0"/>
              </a:rPr>
              <a:t>GitHub </a:t>
            </a:r>
            <a:r>
              <a:rPr lang="pt-BR" sz="1800" b="1" dirty="0" err="1">
                <a:effectLst/>
                <a:latin typeface="Calibri" panose="020F0502020204030204" pitchFamily="34" charset="0"/>
              </a:rPr>
              <a:t>Username</a:t>
            </a:r>
            <a:r>
              <a:rPr lang="pt-BR" sz="1800" b="1" dirty="0">
                <a:effectLst/>
                <a:latin typeface="Calibri" panose="020F0502020204030204" pitchFamily="34" charset="0"/>
              </a:rPr>
              <a:t>:</a:t>
            </a:r>
            <a:r>
              <a:rPr lang="pt-BR" sz="1800" dirty="0">
                <a:effectLst/>
                <a:latin typeface="Calibri" panose="020F0502020204030204" pitchFamily="34" charset="0"/>
              </a:rPr>
              <a:t> fcorrea002</a:t>
            </a:r>
          </a:p>
          <a:p>
            <a:pPr marL="285750" marR="0" indent="-285750">
              <a:buFont typeface="Arial" panose="020B0604020202020204" pitchFamily="34" charset="0"/>
              <a:buChar char="•"/>
            </a:pPr>
            <a:r>
              <a:rPr lang="pt-BR" sz="1800" b="1" dirty="0">
                <a:effectLst/>
                <a:latin typeface="Calibri" panose="020F0502020204030204" pitchFamily="34" charset="0"/>
              </a:rPr>
              <a:t>Date </a:t>
            </a:r>
            <a:r>
              <a:rPr lang="pt-BR" sz="1800" b="1" dirty="0" err="1">
                <a:effectLst/>
                <a:latin typeface="Calibri" panose="020F0502020204030204" pitchFamily="34" charset="0"/>
              </a:rPr>
              <a:t>Recorded</a:t>
            </a:r>
            <a:r>
              <a:rPr lang="pt-BR" sz="1800" b="1" dirty="0">
                <a:effectLst/>
                <a:latin typeface="Calibri" panose="020F0502020204030204" pitchFamily="34" charset="0"/>
              </a:rPr>
              <a:t>:</a:t>
            </a:r>
            <a:r>
              <a:rPr lang="pt-BR" sz="1800" dirty="0">
                <a:effectLst/>
                <a:latin typeface="Calibri" panose="020F0502020204030204" pitchFamily="34" charset="0"/>
              </a:rPr>
              <a:t> </a:t>
            </a:r>
            <a:r>
              <a:rPr lang="pt-BR" dirty="0" err="1">
                <a:latin typeface="Calibri" panose="020F0502020204030204" pitchFamily="34" charset="0"/>
              </a:rPr>
              <a:t>January</a:t>
            </a:r>
            <a:r>
              <a:rPr lang="pt-BR" dirty="0">
                <a:latin typeface="Calibri" panose="020F0502020204030204" pitchFamily="34" charset="0"/>
              </a:rPr>
              <a:t> 9, 2026</a:t>
            </a:r>
            <a:endParaRPr lang="pt-BR" sz="1800" dirty="0">
              <a:effectLst/>
              <a:latin typeface="Calibri" panose="020F0502020204030204" pitchFamily="34" charset="0"/>
            </a:endParaRPr>
          </a:p>
          <a:p>
            <a:pPr marL="285750" marR="0" indent="-285750">
              <a:buFont typeface="Arial" panose="020B0604020202020204" pitchFamily="34" charset="0"/>
              <a:buChar char="•"/>
            </a:pPr>
            <a:r>
              <a:rPr lang="pt-BR" sz="1800" b="1" dirty="0">
                <a:effectLst/>
                <a:latin typeface="Calibri" panose="020F0502020204030204" pitchFamily="34" charset="0"/>
              </a:rPr>
              <a:t>Incident Date:</a:t>
            </a:r>
            <a:r>
              <a:rPr lang="pt-BR" sz="1800" dirty="0">
                <a:effectLst/>
                <a:latin typeface="Calibri" panose="020F0502020204030204" pitchFamily="34" charset="0"/>
              </a:rPr>
              <a:t> May-</a:t>
            </a:r>
            <a:r>
              <a:rPr lang="pt-BR" sz="1800" dirty="0" err="1">
                <a:effectLst/>
                <a:latin typeface="Calibri" panose="020F0502020204030204" pitchFamily="34" charset="0"/>
              </a:rPr>
              <a:t>June</a:t>
            </a:r>
            <a:r>
              <a:rPr lang="pt-BR" sz="1800" dirty="0">
                <a:effectLst/>
                <a:latin typeface="Calibri" panose="020F0502020204030204" pitchFamily="34" charset="0"/>
              </a:rPr>
              <a:t> 2024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b="1" dirty="0">
                <a:effectLst/>
                <a:latin typeface="Calibri" panose="020F0502020204030204" pitchFamily="34" charset="0"/>
              </a:rPr>
              <a:t>CVE </a:t>
            </a:r>
            <a:r>
              <a:rPr lang="pt-BR" sz="1800" b="1" dirty="0" err="1">
                <a:effectLst/>
                <a:latin typeface="Calibri" panose="020F0502020204030204" pitchFamily="34" charset="0"/>
              </a:rPr>
              <a:t>Reference</a:t>
            </a:r>
            <a:r>
              <a:rPr lang="pt-BR" sz="1800" b="1" dirty="0">
                <a:effectLst/>
                <a:latin typeface="Calibri" panose="020F0502020204030204" pitchFamily="34" charset="0"/>
              </a:rPr>
              <a:t>:</a:t>
            </a:r>
            <a:r>
              <a:rPr lang="pt-BR" sz="1800" dirty="0">
                <a:effectLst/>
                <a:latin typeface="Calibri" panose="020F0502020204030204" pitchFamily="34" charset="0"/>
              </a:rPr>
              <a:t> </a:t>
            </a:r>
            <a:r>
              <a:rPr lang="pt-BR" dirty="0"/>
              <a:t>No formal CVE </a:t>
            </a:r>
            <a:r>
              <a:rPr lang="pt-BR" dirty="0" err="1"/>
              <a:t>assigned</a:t>
            </a:r>
            <a:r>
              <a:rPr lang="pt-BR" dirty="0"/>
              <a:t> (</a:t>
            </a:r>
            <a:r>
              <a:rPr lang="pt-BR" dirty="0" err="1"/>
              <a:t>credential</a:t>
            </a:r>
            <a:r>
              <a:rPr lang="pt-BR" dirty="0"/>
              <a:t> </a:t>
            </a:r>
            <a:r>
              <a:rPr lang="pt-BR" dirty="0" err="1"/>
              <a:t>compromise</a:t>
            </a:r>
            <a:r>
              <a:rPr lang="pt-BR" dirty="0"/>
              <a:t> </a:t>
            </a:r>
            <a:r>
              <a:rPr lang="pt-BR" dirty="0" err="1"/>
              <a:t>incident</a:t>
            </a:r>
            <a:r>
              <a:rPr lang="pt-BR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effectLst/>
                <a:latin typeface="Calibri" panose="020F0502020204030204" pitchFamily="34" charset="0"/>
              </a:rPr>
              <a:t>Topic relates to: </a:t>
            </a:r>
            <a:r>
              <a:rPr lang="en-US" sz="1800" dirty="0">
                <a:effectLst/>
                <a:latin typeface="Calibri" panose="020F0502020204030204" pitchFamily="34" charset="0"/>
              </a:rPr>
              <a:t>Authentication, Identity, Privacy, Cloud Security</a:t>
            </a:r>
            <a:endParaRPr lang="pt-BR" sz="1800" dirty="0">
              <a:effectLst/>
              <a:latin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3943515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2B4C"/>
                </a:solidFill>
              </a:defRPr>
            </a:pPr>
            <a:r>
              <a:rPr lang="pt-BR" sz="3600" b="1" dirty="0" err="1"/>
              <a:t>What</a:t>
            </a:r>
            <a:r>
              <a:rPr lang="pt-BR" sz="3600" b="1" dirty="0"/>
              <a:t> </a:t>
            </a:r>
            <a:r>
              <a:rPr lang="pt-BR" sz="3600" b="1" dirty="0" err="1"/>
              <a:t>is</a:t>
            </a:r>
            <a:r>
              <a:rPr lang="pt-BR" sz="3600" b="1" dirty="0"/>
              <a:t> </a:t>
            </a:r>
            <a:r>
              <a:rPr lang="pt-BR" sz="3600" b="1" dirty="0" err="1"/>
              <a:t>Snowflake</a:t>
            </a:r>
            <a:r>
              <a:rPr lang="pt-BR" sz="3600" b="1" dirty="0"/>
              <a:t>?</a:t>
            </a:r>
            <a:endParaRPr lang="pt-BR" dirty="0"/>
          </a:p>
        </p:txBody>
      </p:sp>
      <p:sp>
        <p:nvSpPr>
          <p:cNvPr id="3" name="TextBox 2"/>
          <p:cNvSpPr txBox="1"/>
          <p:nvPr/>
        </p:nvSpPr>
        <p:spPr>
          <a:xfrm>
            <a:off x="1565237" y="2223525"/>
            <a:ext cx="5008743" cy="181588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pt-BR" dirty="0"/>
              <a:t>Cloud-based data warehouse platform</a:t>
            </a:r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pt-BR" dirty="0"/>
              <a:t>Used by large enterprises and governments</a:t>
            </a:r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pt-BR" dirty="0"/>
              <a:t>Stores massive amounts of sensitive information</a:t>
            </a:r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pt-BR" dirty="0"/>
              <a:t>High-value target for cybercriminals</a:t>
            </a:r>
          </a:p>
          <a:p>
            <a:pPr>
              <a:defRPr sz="2200">
                <a:solidFill>
                  <a:srgbClr val="333333"/>
                </a:solidFill>
              </a:defRPr>
            </a:pPr>
            <a:endParaRPr dirty="0"/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8EC0C66A-064F-ED73-FFF0-FCB614D34500}"/>
              </a:ext>
            </a:extLst>
          </p:cNvPr>
          <p:cNvSpPr txBox="1"/>
          <p:nvPr/>
        </p:nvSpPr>
        <p:spPr>
          <a:xfrm>
            <a:off x="6722459" y="6400800"/>
            <a:ext cx="54663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>
                <a:solidFill>
                  <a:srgbClr val="646464"/>
                </a:solidFill>
              </a:defRPr>
            </a:pPr>
            <a:r>
              <a:rPr dirty="0"/>
              <a:t>Fernando Corrêa – Cyber Security Specialist </a:t>
            </a:r>
            <a:r>
              <a:rPr lang="pt-BR" dirty="0"/>
              <a:t>&amp; Crisis Manager</a:t>
            </a:r>
            <a:r>
              <a:rPr dirty="0"/>
              <a:t> | Raízen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7137018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2B4C"/>
                </a:solidFill>
              </a:defRPr>
            </a:pPr>
            <a:r>
              <a:rPr lang="pt-BR" sz="3600" b="1" dirty="0" err="1"/>
              <a:t>What</a:t>
            </a:r>
            <a:r>
              <a:rPr lang="pt-BR" sz="3600" b="1" dirty="0"/>
              <a:t> </a:t>
            </a:r>
            <a:r>
              <a:rPr lang="pt-BR" sz="3600" b="1" dirty="0" err="1"/>
              <a:t>Happened</a:t>
            </a:r>
            <a:r>
              <a:rPr lang="pt-BR" sz="3600" b="1" dirty="0"/>
              <a:t>? Incident Overview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5128327" cy="20313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pt-BR" b="1" dirty="0" err="1"/>
              <a:t>Snowflake</a:t>
            </a:r>
            <a:r>
              <a:rPr lang="pt-BR" b="1" dirty="0"/>
              <a:t> </a:t>
            </a:r>
            <a:r>
              <a:rPr lang="pt-BR" b="1" dirty="0" err="1"/>
              <a:t>Breach</a:t>
            </a:r>
            <a:r>
              <a:rPr lang="pt-BR" b="1" dirty="0"/>
              <a:t> – </a:t>
            </a:r>
            <a:r>
              <a:rPr lang="pt-BR" b="1" dirty="0" err="1"/>
              <a:t>Summary</a:t>
            </a:r>
            <a:endParaRPr lang="pt-BR" b="1" dirty="0"/>
          </a:p>
          <a:p>
            <a:endParaRPr lang="pt-BR" dirty="0"/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altLang="pt-BR" dirty="0" err="1">
                <a:latin typeface="Arial" panose="020B0604020202020204" pitchFamily="34" charset="0"/>
              </a:rPr>
              <a:t>Multiple</a:t>
            </a:r>
            <a:r>
              <a:rPr lang="pt-BR" altLang="pt-BR" dirty="0">
                <a:latin typeface="Arial" panose="020B0604020202020204" pitchFamily="34" charset="0"/>
              </a:rPr>
              <a:t> </a:t>
            </a:r>
            <a:r>
              <a:rPr lang="pt-BR" altLang="pt-BR" dirty="0" err="1">
                <a:latin typeface="Arial" panose="020B0604020202020204" pitchFamily="34" charset="0"/>
              </a:rPr>
              <a:t>customer</a:t>
            </a:r>
            <a:r>
              <a:rPr lang="pt-BR" altLang="pt-BR" dirty="0">
                <a:latin typeface="Arial" panose="020B0604020202020204" pitchFamily="34" charset="0"/>
              </a:rPr>
              <a:t> </a:t>
            </a:r>
            <a:r>
              <a:rPr lang="pt-BR" altLang="pt-BR" dirty="0" err="1">
                <a:latin typeface="Arial" panose="020B0604020202020204" pitchFamily="34" charset="0"/>
              </a:rPr>
              <a:t>accounts</a:t>
            </a:r>
            <a:r>
              <a:rPr lang="pt-BR" altLang="pt-BR" dirty="0">
                <a:latin typeface="Arial" panose="020B0604020202020204" pitchFamily="34" charset="0"/>
              </a:rPr>
              <a:t> </a:t>
            </a:r>
            <a:r>
              <a:rPr lang="pt-BR" altLang="pt-BR" dirty="0" err="1">
                <a:latin typeface="Arial" panose="020B0604020202020204" pitchFamily="34" charset="0"/>
              </a:rPr>
              <a:t>accessed</a:t>
            </a:r>
            <a:r>
              <a:rPr lang="pt-BR" altLang="pt-BR" dirty="0">
                <a:latin typeface="Arial" panose="020B0604020202020204" pitchFamily="34" charset="0"/>
              </a:rPr>
              <a:t> </a:t>
            </a:r>
            <a:r>
              <a:rPr lang="pt-BR" altLang="pt-BR" dirty="0" err="1">
                <a:latin typeface="Arial" panose="020B0604020202020204" pitchFamily="34" charset="0"/>
              </a:rPr>
              <a:t>illegally</a:t>
            </a:r>
            <a:endParaRPr lang="pt-BR" altLang="pt-BR" dirty="0">
              <a:latin typeface="Arial" panose="020B0604020202020204" pitchFamily="34" charset="0"/>
            </a:endParaRPr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altLang="pt-BR" dirty="0" err="1">
                <a:latin typeface="Arial" panose="020B0604020202020204" pitchFamily="34" charset="0"/>
              </a:rPr>
              <a:t>Attackers</a:t>
            </a:r>
            <a:r>
              <a:rPr lang="pt-BR" altLang="pt-BR" dirty="0">
                <a:latin typeface="Arial" panose="020B0604020202020204" pitchFamily="34" charset="0"/>
              </a:rPr>
              <a:t> </a:t>
            </a:r>
            <a:r>
              <a:rPr lang="pt-BR" altLang="pt-BR" dirty="0" err="1">
                <a:latin typeface="Arial" panose="020B0604020202020204" pitchFamily="34" charset="0"/>
              </a:rPr>
              <a:t>used</a:t>
            </a:r>
            <a:r>
              <a:rPr lang="pt-BR" altLang="pt-BR" dirty="0">
                <a:latin typeface="Arial" panose="020B0604020202020204" pitchFamily="34" charset="0"/>
              </a:rPr>
              <a:t> </a:t>
            </a:r>
            <a:r>
              <a:rPr lang="pt-BR" altLang="pt-BR" b="1" dirty="0" err="1">
                <a:latin typeface="Arial" panose="020B0604020202020204" pitchFamily="34" charset="0"/>
              </a:rPr>
              <a:t>valid</a:t>
            </a:r>
            <a:r>
              <a:rPr lang="pt-BR" altLang="pt-BR" b="1" dirty="0">
                <a:latin typeface="Arial" panose="020B0604020202020204" pitchFamily="34" charset="0"/>
              </a:rPr>
              <a:t> </a:t>
            </a:r>
            <a:r>
              <a:rPr lang="pt-BR" altLang="pt-BR" b="1" dirty="0" err="1">
                <a:latin typeface="Arial" panose="020B0604020202020204" pitchFamily="34" charset="0"/>
              </a:rPr>
              <a:t>stolen</a:t>
            </a:r>
            <a:r>
              <a:rPr lang="pt-BR" altLang="pt-BR" b="1" dirty="0">
                <a:latin typeface="Arial" panose="020B0604020202020204" pitchFamily="34" charset="0"/>
              </a:rPr>
              <a:t> </a:t>
            </a:r>
            <a:r>
              <a:rPr lang="pt-BR" altLang="pt-BR" b="1" dirty="0" err="1">
                <a:latin typeface="Arial" panose="020B0604020202020204" pitchFamily="34" charset="0"/>
              </a:rPr>
              <a:t>credentials</a:t>
            </a:r>
            <a:endParaRPr lang="pt-BR" altLang="pt-BR" dirty="0">
              <a:latin typeface="Arial" panose="020B0604020202020204" pitchFamily="34" charset="0"/>
            </a:endParaRPr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altLang="pt-BR" dirty="0">
                <a:latin typeface="Arial" panose="020B0604020202020204" pitchFamily="34" charset="0"/>
              </a:rPr>
              <a:t>No </a:t>
            </a:r>
            <a:r>
              <a:rPr lang="pt-BR" altLang="pt-BR" dirty="0" err="1">
                <a:latin typeface="Arial" panose="020B0604020202020204" pitchFamily="34" charset="0"/>
              </a:rPr>
              <a:t>Snowflake</a:t>
            </a:r>
            <a:r>
              <a:rPr lang="pt-BR" altLang="pt-BR" dirty="0">
                <a:latin typeface="Arial" panose="020B0604020202020204" pitchFamily="34" charset="0"/>
              </a:rPr>
              <a:t> </a:t>
            </a:r>
            <a:r>
              <a:rPr lang="pt-BR" altLang="pt-BR" dirty="0" err="1">
                <a:latin typeface="Arial" panose="020B0604020202020204" pitchFamily="34" charset="0"/>
              </a:rPr>
              <a:t>vulnerability</a:t>
            </a:r>
            <a:r>
              <a:rPr lang="pt-BR" altLang="pt-BR" dirty="0">
                <a:latin typeface="Arial" panose="020B0604020202020204" pitchFamily="34" charset="0"/>
              </a:rPr>
              <a:t> </a:t>
            </a:r>
            <a:r>
              <a:rPr lang="pt-BR" altLang="pt-BR" dirty="0" err="1">
                <a:latin typeface="Arial" panose="020B0604020202020204" pitchFamily="34" charset="0"/>
              </a:rPr>
              <a:t>exploited</a:t>
            </a:r>
            <a:endParaRPr lang="pt-BR" altLang="pt-BR" dirty="0">
              <a:latin typeface="Arial" panose="020B0604020202020204" pitchFamily="34" charset="0"/>
            </a:endParaRPr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altLang="pt-BR" dirty="0">
                <a:latin typeface="Arial" panose="020B0604020202020204" pitchFamily="34" charset="0"/>
              </a:rPr>
              <a:t>MFA </a:t>
            </a:r>
            <a:r>
              <a:rPr lang="pt-BR" altLang="pt-BR" dirty="0" err="1">
                <a:latin typeface="Arial" panose="020B0604020202020204" pitchFamily="34" charset="0"/>
              </a:rPr>
              <a:t>not</a:t>
            </a:r>
            <a:r>
              <a:rPr lang="pt-BR" altLang="pt-BR" dirty="0">
                <a:latin typeface="Arial" panose="020B0604020202020204" pitchFamily="34" charset="0"/>
              </a:rPr>
              <a:t> </a:t>
            </a:r>
            <a:r>
              <a:rPr lang="pt-BR" altLang="pt-BR" dirty="0" err="1">
                <a:latin typeface="Arial" panose="020B0604020202020204" pitchFamily="34" charset="0"/>
              </a:rPr>
              <a:t>enabled</a:t>
            </a:r>
            <a:r>
              <a:rPr lang="pt-BR" altLang="pt-BR" dirty="0">
                <a:latin typeface="Arial" panose="020B0604020202020204" pitchFamily="34" charset="0"/>
              </a:rPr>
              <a:t> for </a:t>
            </a:r>
            <a:r>
              <a:rPr lang="pt-BR" altLang="pt-BR" dirty="0" err="1">
                <a:latin typeface="Arial" panose="020B0604020202020204" pitchFamily="34" charset="0"/>
              </a:rPr>
              <a:t>many</a:t>
            </a:r>
            <a:r>
              <a:rPr lang="pt-BR" altLang="pt-BR" dirty="0">
                <a:latin typeface="Arial" panose="020B0604020202020204" pitchFamily="34" charset="0"/>
              </a:rPr>
              <a:t> </a:t>
            </a:r>
            <a:r>
              <a:rPr lang="pt-BR" altLang="pt-BR" dirty="0" err="1">
                <a:latin typeface="Arial" panose="020B0604020202020204" pitchFamily="34" charset="0"/>
              </a:rPr>
              <a:t>accounts</a:t>
            </a:r>
            <a:endParaRPr lang="pt-BR" altLang="pt-BR" dirty="0">
              <a:latin typeface="Arial" panose="020B0604020202020204" pitchFamily="34" charset="0"/>
            </a:endParaRPr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altLang="pt-BR" dirty="0">
                <a:latin typeface="Arial" panose="020B0604020202020204" pitchFamily="34" charset="0"/>
              </a:rPr>
              <a:t>Large-</a:t>
            </a:r>
            <a:r>
              <a:rPr lang="pt-BR" altLang="pt-BR" dirty="0" err="1">
                <a:latin typeface="Arial" panose="020B0604020202020204" pitchFamily="34" charset="0"/>
              </a:rPr>
              <a:t>scale</a:t>
            </a:r>
            <a:r>
              <a:rPr lang="pt-BR" altLang="pt-BR" dirty="0">
                <a:latin typeface="Arial" panose="020B0604020202020204" pitchFamily="34" charset="0"/>
              </a:rPr>
              <a:t> data </a:t>
            </a:r>
            <a:r>
              <a:rPr lang="pt-BR" altLang="pt-BR" dirty="0" err="1">
                <a:latin typeface="Arial" panose="020B0604020202020204" pitchFamily="34" charset="0"/>
              </a:rPr>
              <a:t>exfiltration</a:t>
            </a:r>
            <a:r>
              <a:rPr lang="pt-BR" altLang="pt-BR" dirty="0">
                <a:latin typeface="Arial" panose="020B0604020202020204" pitchFamily="34" charset="0"/>
              </a:rPr>
              <a:t> </a:t>
            </a:r>
            <a:r>
              <a:rPr lang="pt-BR" altLang="pt-BR" dirty="0" err="1">
                <a:latin typeface="Arial" panose="020B0604020202020204" pitchFamily="34" charset="0"/>
              </a:rPr>
              <a:t>occurred</a:t>
            </a:r>
            <a:endParaRPr lang="pt-BR" altLang="pt-BR" dirty="0">
              <a:latin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722459" y="6400800"/>
            <a:ext cx="54663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>
                <a:solidFill>
                  <a:srgbClr val="646464"/>
                </a:solidFill>
              </a:defRPr>
            </a:pPr>
            <a:r>
              <a:rPr dirty="0"/>
              <a:t>Fernando Corrêa – Cyber Security Specialist </a:t>
            </a:r>
            <a:r>
              <a:rPr lang="pt-BR" dirty="0"/>
              <a:t>&amp; Crisis Manager</a:t>
            </a:r>
            <a:r>
              <a:rPr dirty="0"/>
              <a:t> | Raízen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3167855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2B4C"/>
                </a:solidFill>
              </a:defRPr>
            </a:pPr>
            <a:r>
              <a:rPr lang="pt-BR" sz="3600" b="1" dirty="0" err="1"/>
              <a:t>Attack</a:t>
            </a:r>
            <a:r>
              <a:rPr lang="pt-BR" sz="3600" b="1" dirty="0"/>
              <a:t> </a:t>
            </a:r>
            <a:r>
              <a:rPr lang="pt-BR" sz="3600" b="1" dirty="0" err="1"/>
              <a:t>Timeline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1535612" y="2435629"/>
            <a:ext cx="891540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altLang="pt-BR" b="1" dirty="0">
                <a:latin typeface="Arial" panose="020B0604020202020204" pitchFamily="34" charset="0"/>
              </a:rPr>
              <a:t>Mar–May 2024:</a:t>
            </a:r>
            <a:r>
              <a:rPr lang="pt-BR" altLang="pt-BR" dirty="0">
                <a:latin typeface="Arial" panose="020B0604020202020204" pitchFamily="34" charset="0"/>
              </a:rPr>
              <a:t> </a:t>
            </a:r>
            <a:r>
              <a:rPr lang="pt-BR" altLang="pt-BR" dirty="0" err="1">
                <a:latin typeface="Arial" panose="020B0604020202020204" pitchFamily="34" charset="0"/>
              </a:rPr>
              <a:t>Credentials</a:t>
            </a:r>
            <a:r>
              <a:rPr lang="pt-BR" altLang="pt-BR" dirty="0">
                <a:latin typeface="Arial" panose="020B0604020202020204" pitchFamily="34" charset="0"/>
              </a:rPr>
              <a:t> </a:t>
            </a:r>
            <a:r>
              <a:rPr lang="pt-BR" altLang="pt-BR" dirty="0" err="1">
                <a:latin typeface="Arial" panose="020B0604020202020204" pitchFamily="34" charset="0"/>
              </a:rPr>
              <a:t>stolen</a:t>
            </a:r>
            <a:r>
              <a:rPr lang="pt-BR" altLang="pt-BR" dirty="0">
                <a:latin typeface="Arial" panose="020B0604020202020204" pitchFamily="34" charset="0"/>
              </a:rPr>
              <a:t> via </a:t>
            </a:r>
            <a:r>
              <a:rPr lang="pt-BR" altLang="pt-BR" dirty="0" err="1">
                <a:latin typeface="Arial" panose="020B0604020202020204" pitchFamily="34" charset="0"/>
              </a:rPr>
              <a:t>infostealer</a:t>
            </a:r>
            <a:r>
              <a:rPr lang="pt-BR" altLang="pt-BR" dirty="0">
                <a:latin typeface="Arial" panose="020B0604020202020204" pitchFamily="34" charset="0"/>
              </a:rPr>
              <a:t> malware</a:t>
            </a:r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altLang="pt-BR" b="1" dirty="0">
                <a:latin typeface="Arial" panose="020B0604020202020204" pitchFamily="34" charset="0"/>
              </a:rPr>
              <a:t>Late May:</a:t>
            </a:r>
            <a:r>
              <a:rPr lang="pt-BR" altLang="pt-BR" dirty="0">
                <a:latin typeface="Arial" panose="020B0604020202020204" pitchFamily="34" charset="0"/>
              </a:rPr>
              <a:t> </a:t>
            </a:r>
            <a:r>
              <a:rPr lang="pt-BR" altLang="pt-BR" dirty="0" err="1">
                <a:latin typeface="Arial" panose="020B0604020202020204" pitchFamily="34" charset="0"/>
              </a:rPr>
              <a:t>Attackers</a:t>
            </a:r>
            <a:r>
              <a:rPr lang="pt-BR" altLang="pt-BR" dirty="0">
                <a:latin typeface="Arial" panose="020B0604020202020204" pitchFamily="34" charset="0"/>
              </a:rPr>
              <a:t> </a:t>
            </a:r>
            <a:r>
              <a:rPr lang="pt-BR" altLang="pt-BR" dirty="0" err="1">
                <a:latin typeface="Arial" panose="020B0604020202020204" pitchFamily="34" charset="0"/>
              </a:rPr>
              <a:t>tested</a:t>
            </a:r>
            <a:r>
              <a:rPr lang="pt-BR" altLang="pt-BR" dirty="0">
                <a:latin typeface="Arial" panose="020B0604020202020204" pitchFamily="34" charset="0"/>
              </a:rPr>
              <a:t> </a:t>
            </a:r>
            <a:r>
              <a:rPr lang="pt-BR" altLang="pt-BR" dirty="0" err="1">
                <a:latin typeface="Arial" panose="020B0604020202020204" pitchFamily="34" charset="0"/>
              </a:rPr>
              <a:t>stolen</a:t>
            </a:r>
            <a:r>
              <a:rPr lang="pt-BR" altLang="pt-BR" dirty="0">
                <a:latin typeface="Arial" panose="020B0604020202020204" pitchFamily="34" charset="0"/>
              </a:rPr>
              <a:t> logins</a:t>
            </a:r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altLang="pt-BR" b="1" dirty="0">
                <a:latin typeface="Arial" panose="020B0604020202020204" pitchFamily="34" charset="0"/>
              </a:rPr>
              <a:t>May 30 – </a:t>
            </a:r>
            <a:r>
              <a:rPr lang="pt-BR" altLang="pt-BR" b="1" dirty="0" err="1">
                <a:latin typeface="Arial" panose="020B0604020202020204" pitchFamily="34" charset="0"/>
              </a:rPr>
              <a:t>Jun</a:t>
            </a:r>
            <a:r>
              <a:rPr lang="pt-BR" altLang="pt-BR" b="1" dirty="0">
                <a:latin typeface="Arial" panose="020B0604020202020204" pitchFamily="34" charset="0"/>
              </a:rPr>
              <a:t> 5:</a:t>
            </a:r>
            <a:r>
              <a:rPr lang="pt-BR" altLang="pt-BR" dirty="0">
                <a:latin typeface="Arial" panose="020B0604020202020204" pitchFamily="34" charset="0"/>
              </a:rPr>
              <a:t> </a:t>
            </a:r>
            <a:r>
              <a:rPr lang="pt-BR" altLang="pt-BR" dirty="0" err="1">
                <a:latin typeface="Arial" panose="020B0604020202020204" pitchFamily="34" charset="0"/>
              </a:rPr>
              <a:t>Unauthorized</a:t>
            </a:r>
            <a:r>
              <a:rPr lang="pt-BR" altLang="pt-BR" dirty="0">
                <a:latin typeface="Arial" panose="020B0604020202020204" pitchFamily="34" charset="0"/>
              </a:rPr>
              <a:t> </a:t>
            </a:r>
            <a:r>
              <a:rPr lang="pt-BR" altLang="pt-BR" dirty="0" err="1">
                <a:latin typeface="Arial" panose="020B0604020202020204" pitchFamily="34" charset="0"/>
              </a:rPr>
              <a:t>access</a:t>
            </a:r>
            <a:r>
              <a:rPr lang="pt-BR" altLang="pt-BR" dirty="0">
                <a:latin typeface="Arial" panose="020B0604020202020204" pitchFamily="34" charset="0"/>
              </a:rPr>
              <a:t> + data export</a:t>
            </a:r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altLang="pt-BR" b="1" dirty="0" err="1">
                <a:latin typeface="Arial" panose="020B0604020202020204" pitchFamily="34" charset="0"/>
              </a:rPr>
              <a:t>June</a:t>
            </a:r>
            <a:r>
              <a:rPr lang="pt-BR" altLang="pt-BR" b="1" dirty="0">
                <a:latin typeface="Arial" panose="020B0604020202020204" pitchFamily="34" charset="0"/>
              </a:rPr>
              <a:t> 2024:</a:t>
            </a:r>
            <a:r>
              <a:rPr lang="pt-BR" altLang="pt-BR" dirty="0">
                <a:latin typeface="Arial" panose="020B0604020202020204" pitchFamily="34" charset="0"/>
              </a:rPr>
              <a:t> </a:t>
            </a:r>
            <a:r>
              <a:rPr lang="pt-BR" altLang="pt-BR" dirty="0" err="1">
                <a:latin typeface="Arial" panose="020B0604020202020204" pitchFamily="34" charset="0"/>
              </a:rPr>
              <a:t>Stolen</a:t>
            </a:r>
            <a:r>
              <a:rPr lang="pt-BR" altLang="pt-BR" dirty="0">
                <a:latin typeface="Arial" panose="020B0604020202020204" pitchFamily="34" charset="0"/>
              </a:rPr>
              <a:t> data </a:t>
            </a:r>
            <a:r>
              <a:rPr lang="pt-BR" altLang="pt-BR" dirty="0" err="1">
                <a:latin typeface="Arial" panose="020B0604020202020204" pitchFamily="34" charset="0"/>
              </a:rPr>
              <a:t>offered</a:t>
            </a:r>
            <a:r>
              <a:rPr lang="pt-BR" altLang="pt-BR" dirty="0">
                <a:latin typeface="Arial" panose="020B0604020202020204" pitchFamily="34" charset="0"/>
              </a:rPr>
              <a:t> for </a:t>
            </a:r>
            <a:r>
              <a:rPr lang="pt-BR" altLang="pt-BR" dirty="0" err="1">
                <a:latin typeface="Arial" panose="020B0604020202020204" pitchFamily="34" charset="0"/>
              </a:rPr>
              <a:t>sale</a:t>
            </a:r>
            <a:r>
              <a:rPr lang="pt-BR" altLang="pt-BR" dirty="0">
                <a:latin typeface="Arial" panose="020B0604020202020204" pitchFamily="34" charset="0"/>
              </a:rPr>
              <a:t> </a:t>
            </a:r>
            <a:r>
              <a:rPr lang="pt-BR" altLang="pt-BR" dirty="0" err="1">
                <a:latin typeface="Arial" panose="020B0604020202020204" pitchFamily="34" charset="0"/>
              </a:rPr>
              <a:t>on</a:t>
            </a:r>
            <a:r>
              <a:rPr lang="pt-BR" altLang="pt-BR" dirty="0">
                <a:latin typeface="Arial" panose="020B0604020202020204" pitchFamily="34" charset="0"/>
              </a:rPr>
              <a:t> </a:t>
            </a:r>
            <a:r>
              <a:rPr lang="pt-BR" altLang="pt-BR" dirty="0" err="1">
                <a:latin typeface="Arial" panose="020B0604020202020204" pitchFamily="34" charset="0"/>
              </a:rPr>
              <a:t>dark</a:t>
            </a:r>
            <a:r>
              <a:rPr lang="pt-BR" altLang="pt-BR" dirty="0">
                <a:latin typeface="Arial" panose="020B0604020202020204" pitchFamily="34" charset="0"/>
              </a:rPr>
              <a:t> web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828B1E81-F667-7F4C-07E2-B432AB8C12BD}"/>
              </a:ext>
            </a:extLst>
          </p:cNvPr>
          <p:cNvSpPr txBox="1"/>
          <p:nvPr/>
        </p:nvSpPr>
        <p:spPr>
          <a:xfrm>
            <a:off x="6722459" y="6400800"/>
            <a:ext cx="54663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>
                <a:solidFill>
                  <a:srgbClr val="646464"/>
                </a:solidFill>
              </a:defRPr>
            </a:pPr>
            <a:r>
              <a:rPr dirty="0"/>
              <a:t>Fernando Corrêa – Cyber Security Specialist </a:t>
            </a:r>
            <a:r>
              <a:rPr lang="pt-BR" dirty="0"/>
              <a:t>&amp; Crisis Manager</a:t>
            </a:r>
            <a:r>
              <a:rPr dirty="0"/>
              <a:t> | Raízen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53291" y="270164"/>
            <a:ext cx="116066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A2B4C"/>
                </a:solidFill>
              </a:defRPr>
            </a:pPr>
            <a:r>
              <a:rPr lang="pt-BR" sz="3600" b="1" dirty="0" err="1"/>
              <a:t>How</a:t>
            </a:r>
            <a:r>
              <a:rPr lang="pt-BR" sz="3600" b="1" dirty="0"/>
              <a:t> </a:t>
            </a:r>
            <a:r>
              <a:rPr lang="pt-BR" sz="3600" b="1" dirty="0" err="1"/>
              <a:t>Credentials</a:t>
            </a:r>
            <a:r>
              <a:rPr lang="pt-BR" sz="3600" b="1" dirty="0"/>
              <a:t> </a:t>
            </a:r>
            <a:r>
              <a:rPr lang="pt-BR" sz="3600" b="1" dirty="0" err="1"/>
              <a:t>Were</a:t>
            </a:r>
            <a:r>
              <a:rPr lang="pt-BR" sz="3600" b="1" dirty="0"/>
              <a:t> </a:t>
            </a:r>
            <a:r>
              <a:rPr lang="pt-BR" sz="3600" b="1" dirty="0" err="1"/>
              <a:t>Stolen</a:t>
            </a:r>
            <a:endParaRPr lang="pt-BR" dirty="0"/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80911AF8-EA44-A7DE-C2A5-A4A3A2FEA503}"/>
              </a:ext>
            </a:extLst>
          </p:cNvPr>
          <p:cNvSpPr txBox="1"/>
          <p:nvPr/>
        </p:nvSpPr>
        <p:spPr>
          <a:xfrm>
            <a:off x="6722459" y="6400800"/>
            <a:ext cx="54663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>
                <a:solidFill>
                  <a:srgbClr val="646464"/>
                </a:solidFill>
              </a:defRPr>
            </a:pPr>
            <a:r>
              <a:rPr lang="pt-BR"/>
              <a:t>Fernando Corrêa – Cyber Security Specialist &amp; Crisis Manager | Raízen</a:t>
            </a:r>
            <a:endParaRPr lang="pt-BR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B7961402-9A24-4E38-EC3A-5CF1B77330E5}"/>
              </a:ext>
            </a:extLst>
          </p:cNvPr>
          <p:cNvSpPr txBox="1"/>
          <p:nvPr/>
        </p:nvSpPr>
        <p:spPr>
          <a:xfrm>
            <a:off x="1503983" y="2113566"/>
            <a:ext cx="6896966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altLang="pt-BR" dirty="0" err="1">
                <a:latin typeface="Arial" panose="020B0604020202020204" pitchFamily="34" charset="0"/>
              </a:rPr>
              <a:t>Infostealer</a:t>
            </a:r>
            <a:r>
              <a:rPr lang="pt-BR" altLang="pt-BR" dirty="0">
                <a:latin typeface="Arial" panose="020B0604020202020204" pitchFamily="34" charset="0"/>
              </a:rPr>
              <a:t> malware (</a:t>
            </a:r>
            <a:r>
              <a:rPr lang="pt-BR" altLang="pt-BR" dirty="0" err="1">
                <a:latin typeface="Arial" panose="020B0604020202020204" pitchFamily="34" charset="0"/>
              </a:rPr>
              <a:t>RedLine</a:t>
            </a:r>
            <a:r>
              <a:rPr lang="pt-BR" altLang="pt-BR" dirty="0">
                <a:latin typeface="Arial" panose="020B0604020202020204" pitchFamily="34" charset="0"/>
              </a:rPr>
              <a:t>, </a:t>
            </a:r>
            <a:r>
              <a:rPr lang="pt-BR" altLang="pt-BR" dirty="0" err="1">
                <a:latin typeface="Arial" panose="020B0604020202020204" pitchFamily="34" charset="0"/>
              </a:rPr>
              <a:t>Lumma</a:t>
            </a:r>
            <a:r>
              <a:rPr lang="pt-BR" altLang="pt-BR" dirty="0">
                <a:latin typeface="Arial" panose="020B0604020202020204" pitchFamily="34" charset="0"/>
              </a:rPr>
              <a:t>, Vidar, etc.)</a:t>
            </a:r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altLang="pt-BR" dirty="0" err="1">
                <a:latin typeface="Arial" panose="020B0604020202020204" pitchFamily="34" charset="0"/>
              </a:rPr>
              <a:t>Stole</a:t>
            </a:r>
            <a:r>
              <a:rPr lang="pt-BR" altLang="pt-BR" dirty="0">
                <a:latin typeface="Arial" panose="020B0604020202020204" pitchFamily="34" charset="0"/>
              </a:rPr>
              <a:t> browser-</a:t>
            </a:r>
            <a:r>
              <a:rPr lang="pt-BR" altLang="pt-BR" dirty="0" err="1">
                <a:latin typeface="Arial" panose="020B0604020202020204" pitchFamily="34" charset="0"/>
              </a:rPr>
              <a:t>saved</a:t>
            </a:r>
            <a:r>
              <a:rPr lang="pt-BR" altLang="pt-BR" dirty="0">
                <a:latin typeface="Arial" panose="020B0604020202020204" pitchFamily="34" charset="0"/>
              </a:rPr>
              <a:t>:</a:t>
            </a:r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altLang="pt-BR" dirty="0" err="1">
                <a:latin typeface="Arial" panose="020B0604020202020204" pitchFamily="34" charset="0"/>
              </a:rPr>
              <a:t>Passwords</a:t>
            </a:r>
            <a:endParaRPr lang="pt-BR" altLang="pt-BR" dirty="0">
              <a:latin typeface="Arial" panose="020B0604020202020204" pitchFamily="34" charset="0"/>
            </a:endParaRPr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altLang="pt-BR" dirty="0">
                <a:latin typeface="Arial" panose="020B0604020202020204" pitchFamily="34" charset="0"/>
              </a:rPr>
              <a:t>Cookies</a:t>
            </a:r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altLang="pt-BR" dirty="0">
                <a:latin typeface="Arial" panose="020B0604020202020204" pitchFamily="34" charset="0"/>
              </a:rPr>
              <a:t>Tokens</a:t>
            </a:r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altLang="pt-BR" dirty="0" err="1">
                <a:latin typeface="Arial" panose="020B0604020202020204" pitchFamily="34" charset="0"/>
              </a:rPr>
              <a:t>Auto-fill</a:t>
            </a:r>
            <a:r>
              <a:rPr lang="pt-BR" altLang="pt-BR" dirty="0">
                <a:latin typeface="Arial" panose="020B0604020202020204" pitchFamily="34" charset="0"/>
              </a:rPr>
              <a:t> </a:t>
            </a:r>
            <a:r>
              <a:rPr lang="pt-BR" altLang="pt-BR" dirty="0" err="1">
                <a:latin typeface="Arial" panose="020B0604020202020204" pitchFamily="34" charset="0"/>
              </a:rPr>
              <a:t>credentials</a:t>
            </a:r>
            <a:endParaRPr lang="pt-BR" altLang="pt-BR" dirty="0">
              <a:latin typeface="Arial" panose="020B0604020202020204" pitchFamily="34" charset="0"/>
            </a:endParaRPr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altLang="pt-BR" dirty="0">
                <a:latin typeface="Arial" panose="020B0604020202020204" pitchFamily="34" charset="0"/>
              </a:rPr>
              <a:t>Logs </a:t>
            </a:r>
            <a:r>
              <a:rPr lang="pt-BR" altLang="pt-BR" dirty="0" err="1">
                <a:latin typeface="Arial" panose="020B0604020202020204" pitchFamily="34" charset="0"/>
              </a:rPr>
              <a:t>sold</a:t>
            </a:r>
            <a:r>
              <a:rPr lang="pt-BR" altLang="pt-BR" dirty="0">
                <a:latin typeface="Arial" panose="020B0604020202020204" pitchFamily="34" charset="0"/>
              </a:rPr>
              <a:t> </a:t>
            </a:r>
            <a:r>
              <a:rPr lang="pt-BR" altLang="pt-BR" dirty="0" err="1">
                <a:latin typeface="Arial" panose="020B0604020202020204" pitchFamily="34" charset="0"/>
              </a:rPr>
              <a:t>on</a:t>
            </a:r>
            <a:r>
              <a:rPr lang="pt-BR" altLang="pt-BR" dirty="0">
                <a:latin typeface="Arial" panose="020B0604020202020204" pitchFamily="34" charset="0"/>
              </a:rPr>
              <a:t> </a:t>
            </a:r>
            <a:r>
              <a:rPr lang="pt-BR" altLang="pt-BR" dirty="0" err="1">
                <a:latin typeface="Arial" panose="020B0604020202020204" pitchFamily="34" charset="0"/>
              </a:rPr>
              <a:t>cybercrime</a:t>
            </a:r>
            <a:r>
              <a:rPr lang="pt-BR" altLang="pt-BR" dirty="0">
                <a:latin typeface="Arial" panose="020B0604020202020204" pitchFamily="34" charset="0"/>
              </a:rPr>
              <a:t> </a:t>
            </a:r>
            <a:r>
              <a:rPr lang="pt-BR" altLang="pt-BR" dirty="0" err="1">
                <a:latin typeface="Arial" panose="020B0604020202020204" pitchFamily="34" charset="0"/>
              </a:rPr>
              <a:t>markets</a:t>
            </a:r>
            <a:endParaRPr lang="pt-BR" altLang="pt-BR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3274614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2B4C"/>
                </a:solidFill>
              </a:defRPr>
            </a:pPr>
            <a:r>
              <a:rPr lang="pt-BR" sz="3600" b="1" dirty="0" err="1"/>
              <a:t>Why</a:t>
            </a:r>
            <a:r>
              <a:rPr lang="pt-BR" sz="3600" b="1" dirty="0"/>
              <a:t> MFA </a:t>
            </a:r>
            <a:r>
              <a:rPr lang="pt-BR" sz="3600" b="1" dirty="0" err="1"/>
              <a:t>Failed</a:t>
            </a:r>
            <a:endParaRPr dirty="0"/>
          </a:p>
        </p:txBody>
      </p:sp>
      <p:sp>
        <p:nvSpPr>
          <p:cNvPr id="5" name="TextBox 2"/>
          <p:cNvSpPr txBox="1"/>
          <p:nvPr/>
        </p:nvSpPr>
        <p:spPr>
          <a:xfrm>
            <a:off x="1602075" y="2401928"/>
            <a:ext cx="9289473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  <a:defRPr sz="2200">
                <a:solidFill>
                  <a:srgbClr val="333333"/>
                </a:solidFill>
              </a:defRPr>
            </a:pPr>
            <a:r>
              <a:rPr lang="en-US" dirty="0"/>
              <a:t>Many customers had no MFA enabled</a:t>
            </a:r>
          </a:p>
          <a:p>
            <a:pPr marL="342900" indent="-342900">
              <a:buFont typeface="Arial" panose="020B0604020202020204" pitchFamily="34" charset="0"/>
              <a:buChar char="•"/>
              <a:defRPr sz="2200">
                <a:solidFill>
                  <a:srgbClr val="333333"/>
                </a:solidFill>
              </a:defRPr>
            </a:pPr>
            <a:r>
              <a:rPr lang="en-US" dirty="0"/>
              <a:t>Legacy authentication paths allowed password-only login</a:t>
            </a:r>
          </a:p>
          <a:p>
            <a:pPr marL="342900" indent="-342900">
              <a:buFont typeface="Arial" panose="020B0604020202020204" pitchFamily="34" charset="0"/>
              <a:buChar char="•"/>
              <a:defRPr sz="2200">
                <a:solidFill>
                  <a:srgbClr val="333333"/>
                </a:solidFill>
              </a:defRPr>
            </a:pPr>
            <a:r>
              <a:rPr lang="en-US" dirty="0"/>
              <a:t>Lack of device trust or IP restrictions</a:t>
            </a:r>
          </a:p>
          <a:p>
            <a:pPr marL="342900" indent="-342900">
              <a:buFont typeface="Arial" panose="020B0604020202020204" pitchFamily="34" charset="0"/>
              <a:buChar char="•"/>
              <a:defRPr sz="2200">
                <a:solidFill>
                  <a:srgbClr val="333333"/>
                </a:solidFill>
              </a:defRPr>
            </a:pPr>
            <a:r>
              <a:rPr lang="en-US" dirty="0"/>
              <a:t>Stolen credentials provided full access</a:t>
            </a:r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F6344C5C-400E-3FB0-B7BE-6FEF95885601}"/>
              </a:ext>
            </a:extLst>
          </p:cNvPr>
          <p:cNvSpPr txBox="1"/>
          <p:nvPr/>
        </p:nvSpPr>
        <p:spPr>
          <a:xfrm>
            <a:off x="6722459" y="6400800"/>
            <a:ext cx="54663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>
                <a:solidFill>
                  <a:srgbClr val="646464"/>
                </a:solidFill>
              </a:defRPr>
            </a:pPr>
            <a:r>
              <a:rPr dirty="0"/>
              <a:t>Fernando Corrêa – Cyber Security Specialist </a:t>
            </a:r>
            <a:r>
              <a:rPr lang="pt-BR" dirty="0"/>
              <a:t>&amp; Crisis Manager</a:t>
            </a:r>
            <a:r>
              <a:rPr dirty="0"/>
              <a:t> | Raízen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4200061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2B4C"/>
                </a:solidFill>
              </a:defRPr>
            </a:pPr>
            <a:r>
              <a:rPr lang="pt-BR" sz="3600" b="1" dirty="0" err="1"/>
              <a:t>Attackers</a:t>
            </a:r>
            <a:r>
              <a:rPr lang="pt-BR" sz="3600" b="1" dirty="0"/>
              <a:t>’ </a:t>
            </a:r>
            <a:r>
              <a:rPr lang="pt-BR" sz="3600" b="1" dirty="0" err="1"/>
              <a:t>Objectives</a:t>
            </a:r>
            <a:endParaRPr lang="pt-BR" dirty="0"/>
          </a:p>
        </p:txBody>
      </p:sp>
      <p:sp>
        <p:nvSpPr>
          <p:cNvPr id="7" name="TextBox 3">
            <a:extLst>
              <a:ext uri="{FF2B5EF4-FFF2-40B4-BE49-F238E27FC236}">
                <a16:creationId xmlns:a16="http://schemas.microsoft.com/office/drawing/2014/main" id="{BCBCD343-2BC4-7A80-CD74-406E67360D49}"/>
              </a:ext>
            </a:extLst>
          </p:cNvPr>
          <p:cNvSpPr txBox="1"/>
          <p:nvPr/>
        </p:nvSpPr>
        <p:spPr>
          <a:xfrm>
            <a:off x="6722459" y="6400800"/>
            <a:ext cx="54663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>
                <a:solidFill>
                  <a:srgbClr val="646464"/>
                </a:solidFill>
              </a:defRPr>
            </a:pPr>
            <a:r>
              <a:rPr lang="pt-BR"/>
              <a:t>Fernando Corrêa – Cyber Security Specialist &amp; Crisis Manager | Raízen</a:t>
            </a:r>
            <a:endParaRPr lang="pt-B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17072A-4ABB-3A56-F8D0-209BAB2C8DA8}"/>
              </a:ext>
            </a:extLst>
          </p:cNvPr>
          <p:cNvSpPr txBox="1"/>
          <p:nvPr/>
        </p:nvSpPr>
        <p:spPr>
          <a:xfrm>
            <a:off x="1636711" y="2227811"/>
            <a:ext cx="8915401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Extract full datasets from Snowflake accounts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Extort companies for ransom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Sell stolen data on dark web forums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Targeted high-value records (PII, financial, BI data)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4402808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2B4C"/>
                </a:solidFill>
              </a:defRPr>
            </a:pPr>
            <a:r>
              <a:rPr lang="pt-BR" sz="3600" b="1" dirty="0" err="1"/>
              <a:t>Organizational</a:t>
            </a:r>
            <a:r>
              <a:rPr lang="pt-BR" sz="3600" b="1" dirty="0"/>
              <a:t> </a:t>
            </a:r>
            <a:r>
              <a:rPr lang="pt-BR" sz="3600" b="1" dirty="0" err="1"/>
              <a:t>Impact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1253398" y="2067261"/>
            <a:ext cx="5469061" cy="20313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Affected sectors: finance, retail, SaaS, security, crypto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Impacts: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Reputational damage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Regulatory scrutiny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Customer notifications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Potential legal actions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Operational disruptions</a:t>
            </a:r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55AEA2BE-6A7D-C594-752E-D4E25880EE53}"/>
              </a:ext>
            </a:extLst>
          </p:cNvPr>
          <p:cNvSpPr txBox="1"/>
          <p:nvPr/>
        </p:nvSpPr>
        <p:spPr>
          <a:xfrm>
            <a:off x="6722459" y="6400800"/>
            <a:ext cx="54663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>
                <a:solidFill>
                  <a:srgbClr val="646464"/>
                </a:solidFill>
              </a:defRPr>
            </a:pPr>
            <a:r>
              <a:rPr dirty="0"/>
              <a:t>Fernando Corrêa – Cyber Security Specialist </a:t>
            </a:r>
            <a:r>
              <a:rPr lang="pt-BR" dirty="0"/>
              <a:t>&amp; Crisis Manager</a:t>
            </a:r>
            <a:r>
              <a:rPr dirty="0"/>
              <a:t> | Raízen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5178725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2B4C"/>
                </a:solidFill>
              </a:defRPr>
            </a:pPr>
            <a:r>
              <a:rPr lang="pt-BR" sz="3600" b="1" dirty="0" err="1"/>
              <a:t>Technical</a:t>
            </a:r>
            <a:r>
              <a:rPr lang="pt-BR" sz="3600" b="1" dirty="0"/>
              <a:t> </a:t>
            </a:r>
            <a:r>
              <a:rPr lang="pt-BR" sz="3600" b="1" dirty="0" err="1"/>
              <a:t>Lessons</a:t>
            </a:r>
            <a:r>
              <a:rPr lang="pt-BR" sz="3600" b="1" dirty="0"/>
              <a:t> </a:t>
            </a:r>
            <a:r>
              <a:rPr lang="pt-BR" sz="3600" b="1" dirty="0" err="1"/>
              <a:t>Learned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1182381" y="1932791"/>
            <a:ext cx="9455727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  <a:defRPr sz="2200">
                <a:solidFill>
                  <a:srgbClr val="333333"/>
                </a:solidFill>
              </a:defRPr>
            </a:pPr>
            <a:r>
              <a:rPr lang="en-US" dirty="0"/>
              <a:t>Enforce </a:t>
            </a:r>
            <a:r>
              <a:rPr lang="en-US" b="1" dirty="0"/>
              <a:t>mandatory MFA</a:t>
            </a:r>
          </a:p>
          <a:p>
            <a:pPr marL="342900" indent="-342900">
              <a:buFont typeface="Arial" panose="020B0604020202020204" pitchFamily="34" charset="0"/>
              <a:buChar char="•"/>
              <a:defRPr sz="2200">
                <a:solidFill>
                  <a:srgbClr val="333333"/>
                </a:solidFill>
              </a:defRPr>
            </a:pPr>
            <a:r>
              <a:rPr lang="en-US" dirty="0"/>
              <a:t>Browser-stored passwords = high risk</a:t>
            </a:r>
          </a:p>
          <a:p>
            <a:pPr marL="342900" indent="-342900">
              <a:buFont typeface="Arial" panose="020B0604020202020204" pitchFamily="34" charset="0"/>
              <a:buChar char="•"/>
              <a:defRPr sz="2200">
                <a:solidFill>
                  <a:srgbClr val="333333"/>
                </a:solidFill>
              </a:defRPr>
            </a:pPr>
            <a:r>
              <a:rPr lang="en-US" dirty="0"/>
              <a:t>Monitoring must detect:</a:t>
            </a:r>
          </a:p>
          <a:p>
            <a:pPr marL="800100" lvl="1" indent="-342900">
              <a:buFont typeface="Arial" panose="020B0604020202020204" pitchFamily="34" charset="0"/>
              <a:buChar char="•"/>
              <a:defRPr sz="2200">
                <a:solidFill>
                  <a:srgbClr val="333333"/>
                </a:solidFill>
              </a:defRPr>
            </a:pPr>
            <a:r>
              <a:rPr lang="en-US" dirty="0"/>
              <a:t>Abnormal logins</a:t>
            </a:r>
          </a:p>
          <a:p>
            <a:pPr marL="800100" lvl="1" indent="-342900">
              <a:buFont typeface="Arial" panose="020B0604020202020204" pitchFamily="34" charset="0"/>
              <a:buChar char="•"/>
              <a:defRPr sz="2200">
                <a:solidFill>
                  <a:srgbClr val="333333"/>
                </a:solidFill>
              </a:defRPr>
            </a:pPr>
            <a:r>
              <a:rPr lang="en-US" dirty="0"/>
              <a:t>Impossible travel</a:t>
            </a:r>
          </a:p>
          <a:p>
            <a:pPr marL="800100" lvl="1" indent="-342900">
              <a:buFont typeface="Arial" panose="020B0604020202020204" pitchFamily="34" charset="0"/>
              <a:buChar char="•"/>
              <a:defRPr sz="2200">
                <a:solidFill>
                  <a:srgbClr val="333333"/>
                </a:solidFill>
              </a:defRPr>
            </a:pPr>
            <a:r>
              <a:rPr lang="en-US" dirty="0"/>
              <a:t>Massive data exports</a:t>
            </a:r>
          </a:p>
          <a:p>
            <a:pPr marL="342900" indent="-342900">
              <a:buFont typeface="Arial" panose="020B0604020202020204" pitchFamily="34" charset="0"/>
              <a:buChar char="•"/>
              <a:defRPr sz="2200">
                <a:solidFill>
                  <a:srgbClr val="333333"/>
                </a:solidFill>
              </a:defRPr>
            </a:pPr>
            <a:r>
              <a:rPr lang="en-US" dirty="0"/>
              <a:t>Cloud security requires </a:t>
            </a:r>
            <a:r>
              <a:rPr lang="en-US" b="1" dirty="0"/>
              <a:t>shared responsibility</a:t>
            </a:r>
          </a:p>
        </p:txBody>
      </p:sp>
      <p:sp>
        <p:nvSpPr>
          <p:cNvPr id="5" name="TextBox 3">
            <a:extLst>
              <a:ext uri="{FF2B5EF4-FFF2-40B4-BE49-F238E27FC236}">
                <a16:creationId xmlns:a16="http://schemas.microsoft.com/office/drawing/2014/main" id="{FE0CC6B0-DAFF-DADB-8002-3B57AA5A80DE}"/>
              </a:ext>
            </a:extLst>
          </p:cNvPr>
          <p:cNvSpPr txBox="1"/>
          <p:nvPr/>
        </p:nvSpPr>
        <p:spPr>
          <a:xfrm>
            <a:off x="6722459" y="6400800"/>
            <a:ext cx="54663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>
                <a:solidFill>
                  <a:srgbClr val="646464"/>
                </a:solidFill>
              </a:defRPr>
            </a:pPr>
            <a:r>
              <a:rPr dirty="0"/>
              <a:t>Fernando Corrêa – Cyber Security Specialist </a:t>
            </a:r>
            <a:r>
              <a:rPr lang="pt-BR" dirty="0"/>
              <a:t>&amp; Crisis Manager</a:t>
            </a:r>
            <a:r>
              <a:rPr dirty="0"/>
              <a:t> | Raízen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4386457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2B4C"/>
                </a:solidFill>
              </a:defRPr>
            </a:pPr>
            <a:r>
              <a:rPr lang="pt-BR" sz="3600" b="1" dirty="0" err="1"/>
              <a:t>Snowflake’s</a:t>
            </a:r>
            <a:r>
              <a:rPr lang="pt-BR" sz="3600" b="1" dirty="0"/>
              <a:t> Response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1389530" y="2277852"/>
            <a:ext cx="836407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Forced MFA rollout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Reset compromised sessions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Updated security documentation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Improved anomaly detection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Collaboration with Mandiant, CrowdStrike, law enforcement</a:t>
            </a:r>
          </a:p>
        </p:txBody>
      </p:sp>
      <p:sp>
        <p:nvSpPr>
          <p:cNvPr id="5" name="TextBox 3">
            <a:extLst>
              <a:ext uri="{FF2B5EF4-FFF2-40B4-BE49-F238E27FC236}">
                <a16:creationId xmlns:a16="http://schemas.microsoft.com/office/drawing/2014/main" id="{58B39753-9CB9-0AD5-9FB0-EABA1D294FA4}"/>
              </a:ext>
            </a:extLst>
          </p:cNvPr>
          <p:cNvSpPr txBox="1"/>
          <p:nvPr/>
        </p:nvSpPr>
        <p:spPr>
          <a:xfrm>
            <a:off x="6722459" y="6400800"/>
            <a:ext cx="54663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>
                <a:solidFill>
                  <a:srgbClr val="646464"/>
                </a:solidFill>
              </a:defRPr>
            </a:pPr>
            <a:r>
              <a:rPr dirty="0"/>
              <a:t>Fernando Corrêa – Cyber Security Specialist </a:t>
            </a:r>
            <a:r>
              <a:rPr lang="pt-BR" dirty="0"/>
              <a:t>&amp; Crisis Manager</a:t>
            </a:r>
            <a:r>
              <a:rPr dirty="0"/>
              <a:t> | Raízen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5870710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2B4C"/>
                </a:solidFill>
              </a:defRPr>
            </a:pPr>
            <a:r>
              <a:rPr lang="pt-BR" sz="3600" b="1" dirty="0" err="1"/>
              <a:t>Mitigation</a:t>
            </a:r>
            <a:r>
              <a:rPr lang="pt-BR" sz="3600" b="1" dirty="0"/>
              <a:t> </a:t>
            </a:r>
            <a:r>
              <a:rPr lang="pt-BR" sz="3600" b="1" dirty="0" err="1"/>
              <a:t>Recommendations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1851327" y="1645920"/>
            <a:ext cx="8431191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200" b="1" dirty="0"/>
              <a:t>For </a:t>
            </a:r>
            <a:r>
              <a:rPr lang="pt-BR" sz="2200" b="1" dirty="0" err="1"/>
              <a:t>Organizations</a:t>
            </a:r>
            <a:r>
              <a:rPr lang="pt-BR" sz="2200" b="1" dirty="0"/>
              <a:t>:</a:t>
            </a:r>
            <a:endParaRPr lang="pt-BR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200" dirty="0" err="1"/>
              <a:t>Enforce</a:t>
            </a:r>
            <a:r>
              <a:rPr lang="pt-BR" sz="2200" dirty="0"/>
              <a:t> MFA + SSO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200" dirty="0"/>
              <a:t>Block browser-</a:t>
            </a:r>
            <a:r>
              <a:rPr lang="pt-BR" sz="2200" dirty="0" err="1"/>
              <a:t>saved</a:t>
            </a:r>
            <a:r>
              <a:rPr lang="pt-BR" sz="2200" dirty="0"/>
              <a:t> </a:t>
            </a:r>
            <a:r>
              <a:rPr lang="pt-BR" sz="2200" dirty="0" err="1"/>
              <a:t>credentials</a:t>
            </a:r>
            <a:endParaRPr lang="pt-BR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200" dirty="0"/>
              <a:t>Use EDR for malware </a:t>
            </a:r>
            <a:r>
              <a:rPr lang="pt-BR" sz="2200" dirty="0" err="1"/>
              <a:t>detection</a:t>
            </a:r>
            <a:endParaRPr lang="pt-BR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200" dirty="0" err="1"/>
              <a:t>Restrict</a:t>
            </a:r>
            <a:r>
              <a:rPr lang="pt-BR" sz="2200" dirty="0"/>
              <a:t> </a:t>
            </a:r>
            <a:r>
              <a:rPr lang="pt-BR" sz="2200" dirty="0" err="1"/>
              <a:t>access</a:t>
            </a:r>
            <a:r>
              <a:rPr lang="pt-BR" sz="2200" dirty="0"/>
              <a:t> </a:t>
            </a:r>
            <a:r>
              <a:rPr lang="pt-BR" sz="2200" dirty="0" err="1"/>
              <a:t>by</a:t>
            </a:r>
            <a:r>
              <a:rPr lang="pt-BR" sz="2200" dirty="0"/>
              <a:t> IP/network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200" dirty="0"/>
              <a:t>Monitor </a:t>
            </a:r>
            <a:r>
              <a:rPr lang="pt-BR" sz="2200" dirty="0" err="1"/>
              <a:t>large</a:t>
            </a:r>
            <a:r>
              <a:rPr lang="pt-BR" sz="2200" dirty="0"/>
              <a:t> export queries</a:t>
            </a:r>
          </a:p>
          <a:p>
            <a:r>
              <a:rPr lang="pt-BR" sz="2200" b="1" dirty="0"/>
              <a:t>For </a:t>
            </a:r>
            <a:r>
              <a:rPr lang="pt-BR" sz="2200" b="1" dirty="0" err="1"/>
              <a:t>Individuals</a:t>
            </a:r>
            <a:r>
              <a:rPr lang="pt-BR" sz="2200" b="1" dirty="0"/>
              <a:t>:</a:t>
            </a:r>
            <a:endParaRPr lang="pt-BR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200" dirty="0"/>
              <a:t>Use </a:t>
            </a:r>
            <a:r>
              <a:rPr lang="pt-BR" sz="2200" dirty="0" err="1"/>
              <a:t>password</a:t>
            </a:r>
            <a:r>
              <a:rPr lang="pt-BR" sz="2200" dirty="0"/>
              <a:t> managers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200" dirty="0" err="1"/>
              <a:t>Avoid</a:t>
            </a:r>
            <a:r>
              <a:rPr lang="pt-BR" sz="2200" dirty="0"/>
              <a:t> </a:t>
            </a:r>
            <a:r>
              <a:rPr lang="pt-BR" sz="2200" dirty="0" err="1"/>
              <a:t>corporate</a:t>
            </a:r>
            <a:r>
              <a:rPr lang="pt-BR" sz="2200" dirty="0"/>
              <a:t> </a:t>
            </a:r>
            <a:r>
              <a:rPr lang="pt-BR" sz="2200" dirty="0" err="1"/>
              <a:t>access</a:t>
            </a:r>
            <a:r>
              <a:rPr lang="pt-BR" sz="2200" dirty="0"/>
              <a:t> </a:t>
            </a:r>
            <a:r>
              <a:rPr lang="pt-BR" sz="2200" dirty="0" err="1"/>
              <a:t>on</a:t>
            </a:r>
            <a:r>
              <a:rPr lang="pt-BR" sz="2200" dirty="0"/>
              <a:t> personal devices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200" dirty="0"/>
              <a:t>Use hardware </a:t>
            </a:r>
            <a:r>
              <a:rPr lang="pt-BR" sz="2200" dirty="0" err="1"/>
              <a:t>authentication</a:t>
            </a:r>
            <a:r>
              <a:rPr lang="pt-BR" sz="2200" dirty="0"/>
              <a:t> (FIDO </a:t>
            </a:r>
            <a:r>
              <a:rPr lang="pt-BR" sz="2200" dirty="0" err="1"/>
              <a:t>keys</a:t>
            </a:r>
            <a:r>
              <a:rPr lang="pt-BR" sz="2200" dirty="0"/>
              <a:t>)</a:t>
            </a:r>
          </a:p>
        </p:txBody>
      </p:sp>
      <p:sp>
        <p:nvSpPr>
          <p:cNvPr id="5" name="TextBox 3">
            <a:extLst>
              <a:ext uri="{FF2B5EF4-FFF2-40B4-BE49-F238E27FC236}">
                <a16:creationId xmlns:a16="http://schemas.microsoft.com/office/drawing/2014/main" id="{64143692-2788-D751-4CC0-8E3C1EE21087}"/>
              </a:ext>
            </a:extLst>
          </p:cNvPr>
          <p:cNvSpPr txBox="1"/>
          <p:nvPr/>
        </p:nvSpPr>
        <p:spPr>
          <a:xfrm>
            <a:off x="6722459" y="6400800"/>
            <a:ext cx="54663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>
                <a:solidFill>
                  <a:srgbClr val="646464"/>
                </a:solidFill>
              </a:defRPr>
            </a:pPr>
            <a:r>
              <a:rPr dirty="0"/>
              <a:t>Fernando Corrêa – Cyber Security Specialist </a:t>
            </a:r>
            <a:r>
              <a:rPr lang="pt-BR" dirty="0"/>
              <a:t>&amp; Crisis Manager</a:t>
            </a:r>
            <a:r>
              <a:rPr dirty="0"/>
              <a:t> | Raízen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614DB-5E9E-0B67-BD3F-79D8E7588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0B47A3-A1A5-4CF8-171B-CF40F4416E53}"/>
              </a:ext>
            </a:extLst>
          </p:cNvPr>
          <p:cNvSpPr txBox="1"/>
          <p:nvPr/>
        </p:nvSpPr>
        <p:spPr>
          <a:xfrm>
            <a:off x="731520" y="457200"/>
            <a:ext cx="2987228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2B4C"/>
                </a:solidFill>
              </a:defRPr>
            </a:pPr>
            <a:r>
              <a:rPr lang="pt-BR" sz="3600" b="1" dirty="0"/>
              <a:t>Final </a:t>
            </a:r>
            <a:r>
              <a:rPr lang="pt-BR" sz="3600" b="1" dirty="0" err="1"/>
              <a:t>Thoughts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DF6345-B1C1-950F-AD43-7D0B2178701C}"/>
              </a:ext>
            </a:extLst>
          </p:cNvPr>
          <p:cNvSpPr txBox="1"/>
          <p:nvPr/>
        </p:nvSpPr>
        <p:spPr>
          <a:xfrm>
            <a:off x="1246094" y="2138979"/>
            <a:ext cx="6449651" cy="17851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342900" lvl="0" indent="-34290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altLang="pt-BR" sz="2200" dirty="0">
                <a:latin typeface="Arial" panose="020B0604020202020204" pitchFamily="34" charset="0"/>
              </a:rPr>
              <a:t>The cloud </a:t>
            </a:r>
            <a:r>
              <a:rPr lang="pt-BR" altLang="pt-BR" sz="2200" dirty="0" err="1">
                <a:latin typeface="Arial" panose="020B0604020202020204" pitchFamily="34" charset="0"/>
              </a:rPr>
              <a:t>wasn’t</a:t>
            </a:r>
            <a:r>
              <a:rPr lang="pt-BR" altLang="pt-BR" sz="2200" dirty="0">
                <a:latin typeface="Arial" panose="020B0604020202020204" pitchFamily="34" charset="0"/>
              </a:rPr>
              <a:t> </a:t>
            </a:r>
            <a:r>
              <a:rPr lang="pt-BR" altLang="pt-BR" sz="2200" dirty="0" err="1">
                <a:latin typeface="Arial" panose="020B0604020202020204" pitchFamily="34" charset="0"/>
              </a:rPr>
              <a:t>hacked</a:t>
            </a:r>
            <a:r>
              <a:rPr lang="pt-BR" altLang="pt-BR" sz="2200" dirty="0">
                <a:latin typeface="Arial" panose="020B0604020202020204" pitchFamily="34" charset="0"/>
              </a:rPr>
              <a:t> — </a:t>
            </a:r>
            <a:r>
              <a:rPr lang="pt-BR" altLang="pt-BR" sz="2200" b="1" dirty="0" err="1">
                <a:latin typeface="Arial" panose="020B0604020202020204" pitchFamily="34" charset="0"/>
              </a:rPr>
              <a:t>credentials</a:t>
            </a:r>
            <a:r>
              <a:rPr lang="pt-BR" altLang="pt-BR" sz="2200" b="1" dirty="0">
                <a:latin typeface="Arial" panose="020B0604020202020204" pitchFamily="34" charset="0"/>
              </a:rPr>
              <a:t> </a:t>
            </a:r>
            <a:r>
              <a:rPr lang="pt-BR" altLang="pt-BR" sz="2200" b="1" dirty="0" err="1">
                <a:latin typeface="Arial" panose="020B0604020202020204" pitchFamily="34" charset="0"/>
              </a:rPr>
              <a:t>were</a:t>
            </a:r>
            <a:endParaRPr lang="pt-BR" altLang="pt-BR" sz="2200" dirty="0">
              <a:latin typeface="Arial" panose="020B0604020202020204" pitchFamily="34" charset="0"/>
            </a:endParaRPr>
          </a:p>
          <a:p>
            <a:pPr marL="342900" lvl="0" indent="-34290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altLang="pt-BR" sz="2200" dirty="0" err="1">
                <a:latin typeface="Arial" panose="020B0604020202020204" pitchFamily="34" charset="0"/>
              </a:rPr>
              <a:t>Human</a:t>
            </a:r>
            <a:r>
              <a:rPr lang="pt-BR" altLang="pt-BR" sz="2200" dirty="0">
                <a:latin typeface="Arial" panose="020B0604020202020204" pitchFamily="34" charset="0"/>
              </a:rPr>
              <a:t> </a:t>
            </a:r>
            <a:r>
              <a:rPr lang="pt-BR" altLang="pt-BR" sz="2200" dirty="0" err="1">
                <a:latin typeface="Arial" panose="020B0604020202020204" pitchFamily="34" charset="0"/>
              </a:rPr>
              <a:t>error</a:t>
            </a:r>
            <a:r>
              <a:rPr lang="pt-BR" altLang="pt-BR" sz="2200" dirty="0">
                <a:latin typeface="Arial" panose="020B0604020202020204" pitchFamily="34" charset="0"/>
              </a:rPr>
              <a:t> </a:t>
            </a:r>
            <a:r>
              <a:rPr lang="pt-BR" altLang="pt-BR" sz="2200" dirty="0" err="1">
                <a:latin typeface="Arial" panose="020B0604020202020204" pitchFamily="34" charset="0"/>
              </a:rPr>
              <a:t>remains</a:t>
            </a:r>
            <a:r>
              <a:rPr lang="pt-BR" altLang="pt-BR" sz="2200" dirty="0">
                <a:latin typeface="Arial" panose="020B0604020202020204" pitchFamily="34" charset="0"/>
              </a:rPr>
              <a:t> the #1 </a:t>
            </a:r>
            <a:r>
              <a:rPr lang="pt-BR" altLang="pt-BR" sz="2200" dirty="0" err="1">
                <a:latin typeface="Arial" panose="020B0604020202020204" pitchFamily="34" charset="0"/>
              </a:rPr>
              <a:t>attack</a:t>
            </a:r>
            <a:r>
              <a:rPr lang="pt-BR" altLang="pt-BR" sz="2200" dirty="0">
                <a:latin typeface="Arial" panose="020B0604020202020204" pitchFamily="34" charset="0"/>
              </a:rPr>
              <a:t> vector</a:t>
            </a:r>
          </a:p>
          <a:p>
            <a:pPr marL="342900" lvl="0" indent="-34290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altLang="pt-BR" sz="2200" dirty="0">
                <a:latin typeface="Arial" panose="020B0604020202020204" pitchFamily="34" charset="0"/>
              </a:rPr>
              <a:t>Strong </a:t>
            </a:r>
            <a:r>
              <a:rPr lang="pt-BR" altLang="pt-BR" sz="2200" dirty="0" err="1">
                <a:latin typeface="Arial" panose="020B0604020202020204" pitchFamily="34" charset="0"/>
              </a:rPr>
              <a:t>identity</a:t>
            </a:r>
            <a:r>
              <a:rPr lang="pt-BR" altLang="pt-BR" sz="2200" dirty="0">
                <a:latin typeface="Arial" panose="020B0604020202020204" pitchFamily="34" charset="0"/>
              </a:rPr>
              <a:t> </a:t>
            </a:r>
            <a:r>
              <a:rPr lang="pt-BR" altLang="pt-BR" sz="2200" dirty="0" err="1">
                <a:latin typeface="Arial" panose="020B0604020202020204" pitchFamily="34" charset="0"/>
              </a:rPr>
              <a:t>protection</a:t>
            </a:r>
            <a:r>
              <a:rPr lang="pt-BR" altLang="pt-BR" sz="2200" dirty="0">
                <a:latin typeface="Arial" panose="020B0604020202020204" pitchFamily="34" charset="0"/>
              </a:rPr>
              <a:t> </a:t>
            </a:r>
            <a:r>
              <a:rPr lang="pt-BR" altLang="pt-BR" sz="2200" dirty="0" err="1">
                <a:latin typeface="Arial" panose="020B0604020202020204" pitchFamily="34" charset="0"/>
              </a:rPr>
              <a:t>is</a:t>
            </a:r>
            <a:r>
              <a:rPr lang="pt-BR" altLang="pt-BR" sz="2200" dirty="0">
                <a:latin typeface="Arial" panose="020B0604020202020204" pitchFamily="34" charset="0"/>
              </a:rPr>
              <a:t> </a:t>
            </a:r>
            <a:r>
              <a:rPr lang="pt-BR" altLang="pt-BR" sz="2200" dirty="0" err="1">
                <a:latin typeface="Arial" panose="020B0604020202020204" pitchFamily="34" charset="0"/>
              </a:rPr>
              <a:t>critical</a:t>
            </a:r>
            <a:endParaRPr lang="pt-BR" altLang="pt-BR" sz="2200" dirty="0">
              <a:latin typeface="Arial" panose="020B0604020202020204" pitchFamily="34" charset="0"/>
            </a:endParaRPr>
          </a:p>
          <a:p>
            <a:pPr marL="342900" lvl="0" indent="-34290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altLang="pt-BR" sz="2200" dirty="0" err="1">
                <a:latin typeface="Arial" panose="020B0604020202020204" pitchFamily="34" charset="0"/>
              </a:rPr>
              <a:t>Preventable</a:t>
            </a:r>
            <a:r>
              <a:rPr lang="pt-BR" altLang="pt-BR" sz="2200" dirty="0">
                <a:latin typeface="Arial" panose="020B0604020202020204" pitchFamily="34" charset="0"/>
              </a:rPr>
              <a:t> </a:t>
            </a:r>
            <a:r>
              <a:rPr lang="pt-BR" altLang="pt-BR" sz="2200" dirty="0" err="1">
                <a:latin typeface="Arial" panose="020B0604020202020204" pitchFamily="34" charset="0"/>
              </a:rPr>
              <a:t>with</a:t>
            </a:r>
            <a:r>
              <a:rPr lang="pt-BR" altLang="pt-BR" sz="2200" dirty="0">
                <a:latin typeface="Arial" panose="020B0604020202020204" pitchFamily="34" charset="0"/>
              </a:rPr>
              <a:t> MFA, </a:t>
            </a:r>
            <a:r>
              <a:rPr lang="pt-BR" altLang="pt-BR" sz="2200" dirty="0" err="1">
                <a:latin typeface="Arial" panose="020B0604020202020204" pitchFamily="34" charset="0"/>
              </a:rPr>
              <a:t>monitoring</a:t>
            </a:r>
            <a:r>
              <a:rPr lang="pt-BR" altLang="pt-BR" sz="2200" dirty="0">
                <a:latin typeface="Arial" panose="020B0604020202020204" pitchFamily="34" charset="0"/>
              </a:rPr>
              <a:t>, </a:t>
            </a:r>
            <a:r>
              <a:rPr lang="pt-BR" altLang="pt-BR" sz="2200" dirty="0" err="1">
                <a:latin typeface="Arial" panose="020B0604020202020204" pitchFamily="34" charset="0"/>
              </a:rPr>
              <a:t>and</a:t>
            </a:r>
            <a:r>
              <a:rPr lang="pt-BR" altLang="pt-BR" sz="2200" dirty="0">
                <a:latin typeface="Arial" panose="020B0604020202020204" pitchFamily="34" charset="0"/>
              </a:rPr>
              <a:t> </a:t>
            </a:r>
            <a:r>
              <a:rPr lang="pt-BR" altLang="pt-BR" sz="2200" dirty="0" err="1">
                <a:latin typeface="Arial" panose="020B0604020202020204" pitchFamily="34" charset="0"/>
              </a:rPr>
              <a:t>hygiene</a:t>
            </a:r>
            <a:endParaRPr lang="pt-BR" altLang="pt-BR" sz="2200" dirty="0">
              <a:latin typeface="Arial" panose="020B0604020202020204" pitchFamily="34" charset="0"/>
            </a:endParaRPr>
          </a:p>
          <a:p>
            <a:pPr marL="342900" lvl="0" indent="-34290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altLang="pt-BR" sz="2200" dirty="0">
                <a:latin typeface="Arial" panose="020B0604020202020204" pitchFamily="34" charset="0"/>
              </a:rPr>
              <a:t>“Security starts </a:t>
            </a:r>
            <a:r>
              <a:rPr lang="pt-BR" altLang="pt-BR" sz="2200" dirty="0" err="1">
                <a:latin typeface="Arial" panose="020B0604020202020204" pitchFamily="34" charset="0"/>
              </a:rPr>
              <a:t>with</a:t>
            </a:r>
            <a:r>
              <a:rPr lang="pt-BR" altLang="pt-BR" sz="2200" dirty="0">
                <a:latin typeface="Arial" panose="020B0604020202020204" pitchFamily="34" charset="0"/>
              </a:rPr>
              <a:t> </a:t>
            </a:r>
            <a:r>
              <a:rPr lang="pt-BR" altLang="pt-BR" sz="2200" dirty="0" err="1">
                <a:latin typeface="Arial" panose="020B0604020202020204" pitchFamily="34" charset="0"/>
              </a:rPr>
              <a:t>authentication</a:t>
            </a:r>
            <a:r>
              <a:rPr lang="pt-BR" altLang="pt-BR" sz="2200" dirty="0">
                <a:latin typeface="Arial" panose="020B0604020202020204" pitchFamily="34" charset="0"/>
              </a:rPr>
              <a:t>”</a:t>
            </a:r>
          </a:p>
        </p:txBody>
      </p:sp>
      <p:sp>
        <p:nvSpPr>
          <p:cNvPr id="5" name="TextBox 3">
            <a:extLst>
              <a:ext uri="{FF2B5EF4-FFF2-40B4-BE49-F238E27FC236}">
                <a16:creationId xmlns:a16="http://schemas.microsoft.com/office/drawing/2014/main" id="{2CFA8A9F-492C-4C65-03E2-161440F04C1C}"/>
              </a:ext>
            </a:extLst>
          </p:cNvPr>
          <p:cNvSpPr txBox="1"/>
          <p:nvPr/>
        </p:nvSpPr>
        <p:spPr>
          <a:xfrm>
            <a:off x="6722459" y="6400800"/>
            <a:ext cx="54663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>
                <a:solidFill>
                  <a:srgbClr val="646464"/>
                </a:solidFill>
              </a:defRPr>
            </a:pPr>
            <a:r>
              <a:rPr dirty="0"/>
              <a:t>Fernando Corrêa – Cyber Security Specialist </a:t>
            </a:r>
            <a:r>
              <a:rPr lang="pt-BR" dirty="0"/>
              <a:t>&amp; Crisis Manager</a:t>
            </a:r>
            <a:r>
              <a:rPr dirty="0"/>
              <a:t> | Raízen</a:t>
            </a:r>
          </a:p>
        </p:txBody>
      </p:sp>
    </p:spTree>
    <p:extLst>
      <p:ext uri="{BB962C8B-B14F-4D97-AF65-F5344CB8AC3E}">
        <p14:creationId xmlns:p14="http://schemas.microsoft.com/office/powerpoint/2010/main" val="16844976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556836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2B4C"/>
                </a:solidFill>
              </a:defRPr>
            </a:pPr>
            <a:r>
              <a:rPr lang="pt-BR" dirty="0" err="1"/>
              <a:t>Closing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11510010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2200">
                <a:solidFill>
                  <a:srgbClr val="333333"/>
                </a:solidFill>
              </a:defRPr>
            </a:pPr>
            <a:r>
              <a:rPr dirty="0"/>
              <a:t>“Cybersecurity is no longer just about technology — it’s about people, processes, and persistence.”</a:t>
            </a:r>
          </a:p>
          <a:p>
            <a:pPr>
              <a:defRPr sz="2200">
                <a:solidFill>
                  <a:srgbClr val="333333"/>
                </a:solidFill>
              </a:defRPr>
            </a:pPr>
            <a:endParaRPr dirty="0"/>
          </a:p>
          <a:p>
            <a:pPr>
              <a:defRPr sz="2200">
                <a:solidFill>
                  <a:srgbClr val="333333"/>
                </a:solidFill>
              </a:defRPr>
            </a:pPr>
            <a:r>
              <a:rPr dirty="0"/>
              <a:t>Thank you!</a:t>
            </a:r>
            <a:endParaRPr lang="pt-BR" dirty="0"/>
          </a:p>
          <a:p>
            <a:pPr>
              <a:defRPr sz="2200">
                <a:solidFill>
                  <a:srgbClr val="333333"/>
                </a:solidFill>
              </a:defRPr>
            </a:pPr>
            <a:endParaRPr lang="pt-BR" dirty="0"/>
          </a:p>
          <a:p>
            <a:pPr>
              <a:defRPr sz="2200">
                <a:solidFill>
                  <a:srgbClr val="333333"/>
                </a:solidFill>
              </a:defRPr>
            </a:pPr>
            <a:endParaRPr lang="pt-BR" dirty="0"/>
          </a:p>
          <a:p>
            <a:pPr>
              <a:defRPr sz="2200">
                <a:solidFill>
                  <a:srgbClr val="333333"/>
                </a:solidFill>
              </a:defRPr>
            </a:pPr>
            <a:endParaRPr dirty="0"/>
          </a:p>
          <a:p>
            <a:pPr>
              <a:defRPr sz="2200">
                <a:solidFill>
                  <a:srgbClr val="333333"/>
                </a:solidFill>
              </a:defRPr>
            </a:pPr>
            <a:r>
              <a:rPr dirty="0"/>
              <a:t>Contact: </a:t>
            </a:r>
            <a:br>
              <a:rPr lang="pt-BR" dirty="0"/>
            </a:br>
            <a:r>
              <a:rPr lang="pt-BR" dirty="0"/>
              <a:t>Email: </a:t>
            </a:r>
            <a:r>
              <a:rPr dirty="0">
                <a:hlinkClick r:id="rId3"/>
              </a:rPr>
              <a:t>fcorrea002@gmail.com</a:t>
            </a:r>
            <a:br>
              <a:rPr lang="pt-BR" dirty="0"/>
            </a:br>
            <a:r>
              <a:rPr dirty="0"/>
              <a:t>LinkedIn: </a:t>
            </a:r>
            <a:r>
              <a:rPr lang="pt-BR" sz="2200" dirty="0"/>
              <a:t>linkedin.com/in/fernandocorrea007</a:t>
            </a:r>
            <a:br>
              <a:rPr lang="pt-BR" dirty="0"/>
            </a:br>
            <a:endParaRPr dirty="0"/>
          </a:p>
        </p:txBody>
      </p:sp>
      <p:sp>
        <p:nvSpPr>
          <p:cNvPr id="5" name="TextBox 3">
            <a:extLst>
              <a:ext uri="{FF2B5EF4-FFF2-40B4-BE49-F238E27FC236}">
                <a16:creationId xmlns:a16="http://schemas.microsoft.com/office/drawing/2014/main" id="{24297965-6BE9-95C3-A0CE-B63C6593785B}"/>
              </a:ext>
            </a:extLst>
          </p:cNvPr>
          <p:cNvSpPr txBox="1"/>
          <p:nvPr/>
        </p:nvSpPr>
        <p:spPr>
          <a:xfrm>
            <a:off x="6722459" y="6400800"/>
            <a:ext cx="54663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>
                <a:solidFill>
                  <a:srgbClr val="646464"/>
                </a:solidFill>
              </a:defRPr>
            </a:pPr>
            <a:r>
              <a:rPr dirty="0"/>
              <a:t>Fernando Corrêa – Cyber Security Specialist </a:t>
            </a:r>
            <a:r>
              <a:rPr lang="pt-BR" dirty="0"/>
              <a:t>&amp; Crisis Manager</a:t>
            </a:r>
            <a:r>
              <a:rPr dirty="0"/>
              <a:t> | Raízen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4097e182-faaa-4e50-90ae-9c7001a20bdb}" enabled="1" method="Privileged" siteId="{e7c411a6-9013-4967-a5b1-3d08f9edc13e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2787</TotalTime>
  <Words>770</Words>
  <Application>Microsoft Office PowerPoint</Application>
  <PresentationFormat>Personalizar</PresentationFormat>
  <Paragraphs>133</Paragraphs>
  <Slides>13</Slides>
  <Notes>13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13</vt:i4>
      </vt:variant>
    </vt:vector>
  </HeadingPairs>
  <TitlesOfParts>
    <vt:vector size="17" baseType="lpstr">
      <vt:lpstr>Aptos</vt:lpstr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Fernando Corrêa da Silva Júnior</dc:creator>
  <cp:keywords/>
  <dc:description>generated using python-pptx</dc:description>
  <cp:lastModifiedBy>Fernando Corrêa da Silva Júnior</cp:lastModifiedBy>
  <cp:revision>3</cp:revision>
  <dcterms:created xsi:type="dcterms:W3CDTF">2013-01-27T09:14:16Z</dcterms:created>
  <dcterms:modified xsi:type="dcterms:W3CDTF">2026-01-09T13:31:21Z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Office Theme:8</vt:lpwstr>
  </property>
  <property fmtid="{D5CDD505-2E9C-101B-9397-08002B2CF9AE}" pid="3" name="ClassificationContentMarkingFooterText">
    <vt:lpwstr>Público</vt:lpwstr>
  </property>
</Properties>
</file>